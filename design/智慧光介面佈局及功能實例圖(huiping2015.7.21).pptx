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8" r:id="rId2"/>
    <p:sldId id="403" r:id="rId3"/>
    <p:sldId id="259" r:id="rId4"/>
    <p:sldId id="321" r:id="rId5"/>
    <p:sldId id="282" r:id="rId6"/>
    <p:sldId id="408" r:id="rId7"/>
    <p:sldId id="406" r:id="rId8"/>
    <p:sldId id="407" r:id="rId9"/>
    <p:sldId id="291" r:id="rId10"/>
    <p:sldId id="405" r:id="rId11"/>
    <p:sldId id="323" r:id="rId12"/>
    <p:sldId id="368" r:id="rId13"/>
    <p:sldId id="373" r:id="rId14"/>
    <p:sldId id="372" r:id="rId15"/>
    <p:sldId id="376" r:id="rId16"/>
    <p:sldId id="348" r:id="rId17"/>
    <p:sldId id="375" r:id="rId18"/>
    <p:sldId id="378" r:id="rId19"/>
    <p:sldId id="410" r:id="rId20"/>
    <p:sldId id="402" r:id="rId21"/>
    <p:sldId id="377" r:id="rId22"/>
    <p:sldId id="381" r:id="rId23"/>
    <p:sldId id="413" r:id="rId24"/>
    <p:sldId id="412" r:id="rId25"/>
    <p:sldId id="293" r:id="rId26"/>
    <p:sldId id="393" r:id="rId27"/>
    <p:sldId id="385" r:id="rId28"/>
    <p:sldId id="411" r:id="rId29"/>
    <p:sldId id="299" r:id="rId30"/>
    <p:sldId id="388" r:id="rId31"/>
    <p:sldId id="390" r:id="rId32"/>
    <p:sldId id="391" r:id="rId33"/>
    <p:sldId id="304" r:id="rId34"/>
    <p:sldId id="394" r:id="rId35"/>
    <p:sldId id="358" r:id="rId36"/>
    <p:sldId id="395" r:id="rId37"/>
    <p:sldId id="396" r:id="rId38"/>
    <p:sldId id="397" r:id="rId39"/>
    <p:sldId id="363" r:id="rId40"/>
    <p:sldId id="359" r:id="rId41"/>
    <p:sldId id="398" r:id="rId42"/>
    <p:sldId id="399" r:id="rId43"/>
    <p:sldId id="409" r:id="rId44"/>
    <p:sldId id="308" r:id="rId45"/>
    <p:sldId id="380" r:id="rId46"/>
    <p:sldId id="400" r:id="rId47"/>
    <p:sldId id="401" r:id="rId4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3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4DA7D-37EF-4616-917F-8D719EFEC2F4}" type="datetimeFigureOut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C7470-A7BF-4247-A577-E3E266E5A8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53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45BC17-E10F-4285-B261-1AB5690D71B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489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DBBA-5565-4F1F-8295-108F41F6CA28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570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93DF1-4920-4C3E-8F8D-454D3C3392AB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71000" y="47625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2263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CC8B-9177-415C-A8DC-3521990DCB34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7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8AB41-A577-491E-9B24-364420EB6773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369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CDB3-DE4E-46AC-A34A-08886EA955CC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962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EFE8-EBA6-4877-A28B-F8F19A7E595B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7042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4B6ED-9DC2-4181-BF09-7013739FFD11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486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84C0-08C3-4C69-ACE9-93E58B50537F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602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2F051-D729-413F-AB46-F3ECC9A7A62E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16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C69BC-E484-486C-AACF-12A0F1FB27F6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24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4882-1624-42A1-A460-D54244D7CA5C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49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7D2B0-4D95-46C3-8B8A-46DADEC62D83}" type="datetime1">
              <a:rPr lang="zh-TW" altLang="en-US" smtClean="0"/>
              <a:t>2015/7/25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D6DCD-0602-4580-8872-23549E5672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61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jpeg"/><Relationship Id="rId7" Type="http://schemas.openxmlformats.org/officeDocument/2006/relationships/image" Target="../media/image7.png"/><Relationship Id="rId12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jpeg"/><Relationship Id="rId7" Type="http://schemas.openxmlformats.org/officeDocument/2006/relationships/image" Target="../media/image7.png"/><Relationship Id="rId12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jpeg"/><Relationship Id="rId7" Type="http://schemas.openxmlformats.org/officeDocument/2006/relationships/image" Target="../media/image7.png"/><Relationship Id="rId12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jpeg"/><Relationship Id="rId7" Type="http://schemas.openxmlformats.org/officeDocument/2006/relationships/image" Target="../media/image7.png"/><Relationship Id="rId12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jpe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12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12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1.jpe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21.jpeg"/><Relationship Id="rId9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12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12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403172"/>
            <a:ext cx="9144000" cy="25565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4800" dirty="0" smtClean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智慧光小幫手</a:t>
            </a:r>
            <a:r>
              <a:rPr lang="en-US" altLang="zh-TW" sz="4800" dirty="0" smtClean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4800" dirty="0" smtClean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800" dirty="0" smtClean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介面佈局</a:t>
            </a:r>
            <a:r>
              <a:rPr lang="zh-TW" altLang="en-US" sz="4800" smtClean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及功能實例圖</a:t>
            </a:r>
            <a:endParaRPr lang="zh-TW" altLang="en-US" sz="4800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5488500"/>
            <a:ext cx="9144000" cy="595522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李慧萍  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2015/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７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２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5063320" y="3357350"/>
            <a:ext cx="2191020" cy="1733568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81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902993" y="1713251"/>
            <a:ext cx="1041799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b="1" dirty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本</a:t>
            </a:r>
            <a:r>
              <a:rPr lang="zh-TW" altLang="en-US" sz="28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系統是一個人機共建的系統，並提供讀者一個理解意義的工具。</a:t>
            </a:r>
            <a:endParaRPr lang="en-US" altLang="zh-TW" sz="2800" b="1" dirty="0" smtClean="0">
              <a:latin typeface="超世紀細行書" panose="02000000000000000000" pitchFamily="2" charset="-120"/>
              <a:ea typeface="超世紀細行書" panose="02000000000000000000" pitchFamily="2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蓮花</a:t>
            </a:r>
            <a:r>
              <a:rPr lang="zh-TW" altLang="en-US" sz="2800" b="1" dirty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代表清淨無染</a:t>
            </a:r>
            <a:r>
              <a:rPr lang="zh-TW" altLang="en-US" sz="28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。閱讀小幫手取名為“智慧光“，</a:t>
            </a:r>
            <a:endParaRPr lang="en-US" altLang="zh-TW" sz="2800" b="1" dirty="0" smtClean="0">
              <a:latin typeface="超世紀細行書" panose="02000000000000000000" pitchFamily="2" charset="-120"/>
              <a:ea typeface="超世紀細行書" panose="02000000000000000000" pitchFamily="2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是將佛陀慈悲與智慧的本懷，實踐在</a:t>
            </a:r>
            <a:r>
              <a:rPr lang="zh-TW" altLang="en-US" sz="2800" b="1" dirty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這個人</a:t>
            </a:r>
            <a:r>
              <a:rPr lang="zh-TW" altLang="en-US" sz="28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機共建的系統上，以眾人之智慧，提供理解的線索，幫助讀者理解佛法的意義。</a:t>
            </a:r>
            <a:endParaRPr lang="en-US" altLang="zh-TW" sz="2800" b="1" dirty="0" smtClean="0">
              <a:latin typeface="超世紀細行書" panose="02000000000000000000" pitchFamily="2" charset="-120"/>
              <a:ea typeface="超世紀細行書" panose="02000000000000000000" pitchFamily="2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慈悲與智慧是相生的，用智慧幫助人，就是慈悲的表現。</a:t>
            </a:r>
            <a:endParaRPr lang="en-US" altLang="zh-TW" sz="2800" b="1" dirty="0" smtClean="0">
              <a:latin typeface="超世紀細行書" panose="02000000000000000000" pitchFamily="2" charset="-120"/>
              <a:ea typeface="超世紀細行書" panose="02000000000000000000" pitchFamily="2" charset="-120"/>
            </a:endParaRPr>
          </a:p>
          <a:p>
            <a:endParaRPr lang="en-US" altLang="zh-TW" sz="2800" b="1" dirty="0">
              <a:latin typeface="超世紀細行書" panose="02000000000000000000" pitchFamily="2" charset="-120"/>
              <a:ea typeface="超世紀細行書" panose="02000000000000000000" pitchFamily="2" charset="-120"/>
            </a:endParaRPr>
          </a:p>
          <a:p>
            <a:r>
              <a:rPr lang="zh-TW" altLang="en-US" sz="20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智慧光指</a:t>
            </a:r>
            <a:r>
              <a:rPr lang="zh-TW" altLang="en-US" sz="2000" b="1" dirty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佛、菩薩之智慧鑑照所發出之光明</a:t>
            </a:r>
            <a:r>
              <a:rPr lang="zh-TW" altLang="en-US" sz="20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。也指阿彌陀佛</a:t>
            </a:r>
            <a:r>
              <a:rPr lang="zh-TW" altLang="en-US" sz="2000" b="1" dirty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十二光之一。佛之光明能破一切眾生無明之闇，故名智慧光。讚阿彌陀佛偈曰：「佛光能破無明闇，故佛又號智慧光。</a:t>
            </a:r>
            <a:r>
              <a:rPr lang="zh-TW" altLang="en-US" sz="20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」見</a:t>
            </a:r>
            <a:r>
              <a:rPr lang="en-US" altLang="zh-TW" sz="20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《</a:t>
            </a:r>
            <a:r>
              <a:rPr lang="zh-TW" altLang="en-US" sz="2000" b="1" dirty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佛光大辭典</a:t>
            </a:r>
            <a:r>
              <a:rPr lang="en-US" altLang="zh-TW" sz="2000" b="1" dirty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》</a:t>
            </a:r>
            <a:endParaRPr lang="zh-TW" altLang="en-US" sz="2000" b="1" dirty="0">
              <a:latin typeface="超世紀細行書" panose="02000000000000000000" pitchFamily="2" charset="-120"/>
              <a:ea typeface="超世紀細行書" panose="02000000000000000000" pitchFamily="2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215128" y="872501"/>
            <a:ext cx="2526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 smtClean="0">
                <a:latin typeface="超世紀細行書" panose="02000000000000000000" pitchFamily="2" charset="-120"/>
                <a:ea typeface="超世紀細行書" panose="02000000000000000000" pitchFamily="2" charset="-120"/>
              </a:rPr>
              <a:t>智慧光閱讀小幫手</a:t>
            </a:r>
            <a:endParaRPr lang="zh-TW" altLang="en-US" sz="2000" b="1" dirty="0">
              <a:latin typeface="超世紀細行書" panose="02000000000000000000" pitchFamily="2" charset="-120"/>
              <a:ea typeface="超世紀細行書" panose="02000000000000000000" pitchFamily="2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73" y="688368"/>
            <a:ext cx="1024503" cy="76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6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頁面佈局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layout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26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73845" y="544768"/>
            <a:ext cx="1129177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                                                                                                    工具列區</a:t>
            </a:r>
            <a:endParaRPr lang="zh-TW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306644"/>
              </p:ext>
            </p:extLst>
          </p:nvPr>
        </p:nvGraphicFramePr>
        <p:xfrm>
          <a:off x="3863082" y="1185788"/>
          <a:ext cx="7598815" cy="101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208"/>
                <a:gridCol w="294607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文本１名稱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r>
                        <a:rPr lang="zh-TW" altLang="en-US" dirty="0" smtClean="0"/>
                        <a:t>文本內容區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729" y="1529633"/>
            <a:ext cx="236641" cy="224809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0"/>
            <a:ext cx="635110" cy="307777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zh-TW" altLang="en-US" sz="1400" dirty="0" smtClean="0"/>
              <a:t>佈局</a:t>
            </a:r>
            <a:r>
              <a:rPr lang="en-US" altLang="zh-TW" sz="1400" dirty="0" smtClean="0"/>
              <a:t>1</a:t>
            </a:r>
            <a:endParaRPr lang="zh-TW" altLang="en-US" sz="1400" dirty="0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184089" y="1899380"/>
            <a:ext cx="236641" cy="224809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4</a:t>
            </a:fld>
            <a:endParaRPr lang="zh-TW" altLang="en-US" dirty="0"/>
          </a:p>
        </p:txBody>
      </p:sp>
      <p:graphicFrame>
        <p:nvGraphicFramePr>
          <p:cNvPr id="65" name="表格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027424"/>
              </p:ext>
            </p:extLst>
          </p:nvPr>
        </p:nvGraphicFramePr>
        <p:xfrm>
          <a:off x="3863083" y="2284486"/>
          <a:ext cx="7610810" cy="101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738"/>
                <a:gridCol w="295072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文本２名稱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r>
                        <a:rPr lang="zh-TW" altLang="en-US" dirty="0" smtClean="0"/>
                        <a:t>文本內容區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287863"/>
              </p:ext>
            </p:extLst>
          </p:nvPr>
        </p:nvGraphicFramePr>
        <p:xfrm>
          <a:off x="3852809" y="3400904"/>
          <a:ext cx="7621084" cy="101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5613"/>
                <a:gridCol w="295471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文本３名稱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r>
                        <a:rPr lang="zh-TW" altLang="en-US" dirty="0" smtClean="0"/>
                        <a:t>文本內容區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表格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607295"/>
              </p:ext>
            </p:extLst>
          </p:nvPr>
        </p:nvGraphicFramePr>
        <p:xfrm>
          <a:off x="3852808" y="4464495"/>
          <a:ext cx="7625901" cy="101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0244"/>
                <a:gridCol w="295657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文本４名稱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r>
                        <a:rPr lang="zh-TW" altLang="en-US" dirty="0" smtClean="0"/>
                        <a:t>文本內容區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表格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496007"/>
              </p:ext>
            </p:extLst>
          </p:nvPr>
        </p:nvGraphicFramePr>
        <p:xfrm>
          <a:off x="3842534" y="5554406"/>
          <a:ext cx="7636175" cy="1029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0119"/>
                <a:gridCol w="296056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文本５名稱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55009">
                <a:tc>
                  <a:txBody>
                    <a:bodyPr/>
                    <a:lstStyle/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r>
                        <a:rPr lang="zh-TW" altLang="en-US" dirty="0" smtClean="0"/>
                        <a:t>文本內容區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9" name="圖片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989" y="2627317"/>
            <a:ext cx="236641" cy="224809"/>
          </a:xfrm>
          <a:prstGeom prst="rect">
            <a:avLst/>
          </a:prstGeom>
        </p:spPr>
      </p:pic>
      <p:pic>
        <p:nvPicPr>
          <p:cNvPr id="70" name="圖片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217349" y="2997064"/>
            <a:ext cx="236641" cy="224809"/>
          </a:xfrm>
          <a:prstGeom prst="rect">
            <a:avLst/>
          </a:prstGeom>
        </p:spPr>
      </p:pic>
      <p:pic>
        <p:nvPicPr>
          <p:cNvPr id="71" name="圖片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349" y="3725000"/>
            <a:ext cx="236641" cy="224809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229709" y="4094747"/>
            <a:ext cx="236641" cy="224809"/>
          </a:xfrm>
          <a:prstGeom prst="rect">
            <a:avLst/>
          </a:prstGeom>
        </p:spPr>
      </p:pic>
      <p:pic>
        <p:nvPicPr>
          <p:cNvPr id="73" name="圖片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709" y="4840834"/>
            <a:ext cx="236641" cy="224809"/>
          </a:xfrm>
          <a:prstGeom prst="rect">
            <a:avLst/>
          </a:prstGeom>
        </p:spPr>
      </p:pic>
      <p:pic>
        <p:nvPicPr>
          <p:cNvPr id="74" name="圖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242069" y="5210581"/>
            <a:ext cx="236641" cy="224809"/>
          </a:xfrm>
          <a:prstGeom prst="rect">
            <a:avLst/>
          </a:prstGeom>
        </p:spPr>
      </p:pic>
      <p:pic>
        <p:nvPicPr>
          <p:cNvPr id="75" name="圖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178" y="5956667"/>
            <a:ext cx="236641" cy="224809"/>
          </a:xfrm>
          <a:prstGeom prst="rect">
            <a:avLst/>
          </a:prstGeom>
        </p:spPr>
      </p:pic>
      <p:pic>
        <p:nvPicPr>
          <p:cNvPr id="76" name="圖片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211533" y="6334361"/>
            <a:ext cx="236641" cy="224809"/>
          </a:xfrm>
          <a:prstGeom prst="rect">
            <a:avLst/>
          </a:prstGeom>
        </p:spPr>
      </p:pic>
      <p:graphicFrame>
        <p:nvGraphicFramePr>
          <p:cNvPr id="79" name="表格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678008"/>
              </p:ext>
            </p:extLst>
          </p:nvPr>
        </p:nvGraphicFramePr>
        <p:xfrm>
          <a:off x="11479888" y="1190661"/>
          <a:ext cx="286543" cy="540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"/>
              </a:tblGrid>
              <a:tr h="540152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0" name="圖片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513177" y="6310672"/>
            <a:ext cx="236641" cy="225821"/>
          </a:xfrm>
          <a:prstGeom prst="rect">
            <a:avLst/>
          </a:prstGeom>
        </p:spPr>
      </p:pic>
      <p:pic>
        <p:nvPicPr>
          <p:cNvPr id="81" name="圖片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3178" y="1258930"/>
            <a:ext cx="236641" cy="22582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927" y="1246675"/>
            <a:ext cx="161103" cy="176446"/>
          </a:xfrm>
          <a:prstGeom prst="rect">
            <a:avLst/>
          </a:prstGeom>
        </p:spPr>
      </p:pic>
      <p:pic>
        <p:nvPicPr>
          <p:cNvPr id="82" name="圖片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926" y="2347479"/>
            <a:ext cx="161103" cy="176446"/>
          </a:xfrm>
          <a:prstGeom prst="rect">
            <a:avLst/>
          </a:prstGeom>
        </p:spPr>
      </p:pic>
      <p:pic>
        <p:nvPicPr>
          <p:cNvPr id="83" name="圖片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4989" y="3467659"/>
            <a:ext cx="161103" cy="176446"/>
          </a:xfrm>
          <a:prstGeom prst="rect">
            <a:avLst/>
          </a:prstGeom>
        </p:spPr>
      </p:pic>
      <p:pic>
        <p:nvPicPr>
          <p:cNvPr id="84" name="圖片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1533" y="4527643"/>
            <a:ext cx="161103" cy="176446"/>
          </a:xfrm>
          <a:prstGeom prst="rect">
            <a:avLst/>
          </a:prstGeom>
        </p:spPr>
      </p:pic>
      <p:pic>
        <p:nvPicPr>
          <p:cNvPr id="85" name="圖片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926" y="5616349"/>
            <a:ext cx="161103" cy="176446"/>
          </a:xfrm>
          <a:prstGeom prst="rect">
            <a:avLst/>
          </a:prstGeom>
        </p:spPr>
      </p:pic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796915"/>
              </p:ext>
            </p:extLst>
          </p:nvPr>
        </p:nvGraphicFramePr>
        <p:xfrm>
          <a:off x="517451" y="1174895"/>
          <a:ext cx="3160697" cy="5384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88335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97971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 smtClean="0"/>
                        <a:t>目錄區</a:t>
                      </a:r>
                      <a:endParaRPr lang="en-US" altLang="zh-TW" sz="180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979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 smtClean="0"/>
                        <a:t>內容架構區</a:t>
                      </a:r>
                    </a:p>
                    <a:p>
                      <a:pPr algn="l"/>
                      <a:endParaRPr lang="zh-TW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3" name="圖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948" y="1618368"/>
            <a:ext cx="236641" cy="224809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279828"/>
            <a:ext cx="236641" cy="224809"/>
          </a:xfrm>
          <a:prstGeom prst="rect">
            <a:avLst/>
          </a:prstGeom>
        </p:spPr>
      </p:pic>
      <p:pic>
        <p:nvPicPr>
          <p:cNvPr id="35" name="圖片 34"/>
          <p:cNvPicPr>
            <a:picLocks noChangeAspect="1"/>
          </p:cNvPicPr>
          <p:nvPr/>
        </p:nvPicPr>
        <p:blipFill rotWithShape="1">
          <a:blip r:embed="rId4"/>
          <a:srcRect t="-2" b="51800"/>
          <a:stretch/>
        </p:blipFill>
        <p:spPr>
          <a:xfrm>
            <a:off x="692126" y="6276488"/>
            <a:ext cx="2598871" cy="115745"/>
          </a:xfrm>
          <a:prstGeom prst="rect">
            <a:avLst/>
          </a:prstGeom>
        </p:spPr>
      </p:pic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90962"/>
              </p:ext>
            </p:extLst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7" name="圖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3330332" y="1912537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動作按鈕: 下一項 38">
            <a:hlinkClick r:id="" action="ppaction://hlinkshowjump?jump=nextslide" highlightClick="1"/>
          </p:cNvPr>
          <p:cNvSpPr/>
          <p:nvPr/>
        </p:nvSpPr>
        <p:spPr>
          <a:xfrm>
            <a:off x="10933032" y="124667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動作按鈕: 上一項 39">
            <a:hlinkClick r:id="" action="ppaction://hlinkshowjump?jump=previousslide" highlightClick="1"/>
          </p:cNvPr>
          <p:cNvSpPr/>
          <p:nvPr/>
        </p:nvSpPr>
        <p:spPr>
          <a:xfrm>
            <a:off x="10749079" y="124667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動作按鈕: 下一項 42">
            <a:hlinkClick r:id="" action="ppaction://hlinkshowjump?jump=nextslide" highlightClick="1"/>
          </p:cNvPr>
          <p:cNvSpPr/>
          <p:nvPr/>
        </p:nvSpPr>
        <p:spPr>
          <a:xfrm>
            <a:off x="10933032" y="2347286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動作按鈕: 上一項 43">
            <a:hlinkClick r:id="" action="ppaction://hlinkshowjump?jump=previousslide" highlightClick="1"/>
          </p:cNvPr>
          <p:cNvSpPr/>
          <p:nvPr/>
        </p:nvSpPr>
        <p:spPr>
          <a:xfrm>
            <a:off x="10749079" y="2347286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動作按鈕: 下一項 44">
            <a:hlinkClick r:id="" action="ppaction://hlinkshowjump?jump=nextslide" highlightClick="1"/>
          </p:cNvPr>
          <p:cNvSpPr/>
          <p:nvPr/>
        </p:nvSpPr>
        <p:spPr>
          <a:xfrm>
            <a:off x="10933032" y="346765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動作按鈕: 上一項 45">
            <a:hlinkClick r:id="" action="ppaction://hlinkshowjump?jump=previousslide" highlightClick="1"/>
          </p:cNvPr>
          <p:cNvSpPr/>
          <p:nvPr/>
        </p:nvSpPr>
        <p:spPr>
          <a:xfrm>
            <a:off x="10749079" y="346765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動作按鈕: 下一項 46">
            <a:hlinkClick r:id="" action="ppaction://hlinkshowjump?jump=nextslide" highlightClick="1"/>
          </p:cNvPr>
          <p:cNvSpPr/>
          <p:nvPr/>
        </p:nvSpPr>
        <p:spPr>
          <a:xfrm>
            <a:off x="10933032" y="449980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動作按鈕: 上一項 47">
            <a:hlinkClick r:id="" action="ppaction://hlinkshowjump?jump=previousslide" highlightClick="1"/>
          </p:cNvPr>
          <p:cNvSpPr/>
          <p:nvPr/>
        </p:nvSpPr>
        <p:spPr>
          <a:xfrm>
            <a:off x="10749079" y="449980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動作按鈕: 下一項 50">
            <a:hlinkClick r:id="" action="ppaction://hlinkshowjump?jump=nextslide" highlightClick="1"/>
          </p:cNvPr>
          <p:cNvSpPr/>
          <p:nvPr/>
        </p:nvSpPr>
        <p:spPr>
          <a:xfrm>
            <a:off x="10933032" y="561634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動作按鈕: 上一項 51">
            <a:hlinkClick r:id="" action="ppaction://hlinkshowjump?jump=previousslide" highlightClick="1"/>
          </p:cNvPr>
          <p:cNvSpPr/>
          <p:nvPr/>
        </p:nvSpPr>
        <p:spPr>
          <a:xfrm>
            <a:off x="10749079" y="561634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042826"/>
              </p:ext>
            </p:extLst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4" name="圖片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4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73845" y="544768"/>
            <a:ext cx="1129177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                                                                                                    工具列區</a:t>
            </a:r>
            <a:endParaRPr lang="zh-TW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3966"/>
              </p:ext>
            </p:extLst>
          </p:nvPr>
        </p:nvGraphicFramePr>
        <p:xfrm>
          <a:off x="3811712" y="1193945"/>
          <a:ext cx="7607655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0670"/>
                <a:gridCol w="316985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文本１名稱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r>
                        <a:rPr lang="zh-TW" altLang="en-US" dirty="0" smtClean="0"/>
                        <a:t>文本內容區</a:t>
                      </a:r>
                      <a:endParaRPr lang="en-US" altLang="zh-TW" dirty="0" smtClean="0"/>
                    </a:p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055" y="1566727"/>
            <a:ext cx="236641" cy="224809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115424" y="3336712"/>
            <a:ext cx="236641" cy="224809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0"/>
            <a:ext cx="723275" cy="307777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zh-TW" altLang="en-US" sz="1400" dirty="0" smtClean="0"/>
              <a:t>佈局２</a:t>
            </a:r>
            <a:endParaRPr lang="zh-TW" altLang="en-US" sz="1400" dirty="0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300215"/>
              </p:ext>
            </p:extLst>
          </p:nvPr>
        </p:nvGraphicFramePr>
        <p:xfrm>
          <a:off x="3801438" y="3753293"/>
          <a:ext cx="760729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0806"/>
                <a:gridCol w="286491"/>
              </a:tblGrid>
              <a:tr h="3216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文本２名稱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 smtClean="0"/>
                        <a:t>文本內容區</a:t>
                      </a:r>
                      <a:endParaRPr lang="en-US" altLang="zh-TW" sz="1800" dirty="0" smtClean="0"/>
                    </a:p>
                    <a:p>
                      <a:pPr algn="l"/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3" name="圖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790" y="4144813"/>
            <a:ext cx="236641" cy="224809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164828" y="6124735"/>
            <a:ext cx="236641" cy="224809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855499"/>
              </p:ext>
            </p:extLst>
          </p:nvPr>
        </p:nvGraphicFramePr>
        <p:xfrm>
          <a:off x="11419904" y="1190846"/>
          <a:ext cx="286543" cy="522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"/>
              </a:tblGrid>
              <a:tr h="522357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1" name="圖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999" y="1256857"/>
            <a:ext cx="236641" cy="224809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3999" y="6124735"/>
            <a:ext cx="236641" cy="224809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927" y="1246675"/>
            <a:ext cx="161103" cy="176446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4012" y="3845732"/>
            <a:ext cx="161103" cy="176446"/>
          </a:xfrm>
          <a:prstGeom prst="rect">
            <a:avLst/>
          </a:prstGeom>
        </p:spPr>
      </p:pic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063952"/>
              </p:ext>
            </p:extLst>
          </p:nvPr>
        </p:nvGraphicFramePr>
        <p:xfrm>
          <a:off x="517451" y="1174895"/>
          <a:ext cx="3160697" cy="5236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7768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29429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ctr"/>
                      <a:r>
                        <a:rPr lang="zh-TW" altLang="en-US" sz="1800" dirty="0" smtClean="0"/>
                        <a:t>目錄區</a:t>
                      </a:r>
                      <a:endParaRPr lang="en-US" altLang="zh-TW" sz="180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294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 smtClean="0"/>
                        <a:t>內容架構區</a:t>
                      </a:r>
                      <a:endParaRPr lang="zh-TW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9" name="圖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000" y="1565777"/>
            <a:ext cx="236641" cy="224809"/>
          </a:xfrm>
          <a:prstGeom prst="rect">
            <a:avLst/>
          </a:prstGeom>
        </p:spPr>
      </p:pic>
      <p:pic>
        <p:nvPicPr>
          <p:cNvPr id="30" name="圖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356000" y="6069550"/>
            <a:ext cx="236641" cy="224809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 rotWithShape="1">
          <a:blip r:embed="rId4"/>
          <a:srcRect t="-2" b="51800"/>
          <a:stretch/>
        </p:blipFill>
        <p:spPr>
          <a:xfrm>
            <a:off x="651577" y="6136199"/>
            <a:ext cx="2598871" cy="115745"/>
          </a:xfrm>
          <a:prstGeom prst="rect">
            <a:avLst/>
          </a:prstGeom>
        </p:spPr>
      </p:pic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90962"/>
              </p:ext>
            </p:extLst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3" name="圖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3348424" y="1796455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動作按鈕: 下一項 34">
            <a:hlinkClick r:id="" action="ppaction://hlinkshowjump?jump=nextslide" highlightClick="1"/>
          </p:cNvPr>
          <p:cNvSpPr/>
          <p:nvPr/>
        </p:nvSpPr>
        <p:spPr>
          <a:xfrm>
            <a:off x="10956988" y="124667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動作按鈕: 上一項 35">
            <a:hlinkClick r:id="" action="ppaction://hlinkshowjump?jump=previousslide" highlightClick="1"/>
          </p:cNvPr>
          <p:cNvSpPr/>
          <p:nvPr/>
        </p:nvSpPr>
        <p:spPr>
          <a:xfrm>
            <a:off x="10773035" y="124667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動作按鈕: 下一項 36">
            <a:hlinkClick r:id="" action="ppaction://hlinkshowjump?jump=nextslide" highlightClick="1"/>
          </p:cNvPr>
          <p:cNvSpPr/>
          <p:nvPr/>
        </p:nvSpPr>
        <p:spPr>
          <a:xfrm>
            <a:off x="10812028" y="3845732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動作按鈕: 上一項 37">
            <a:hlinkClick r:id="" action="ppaction://hlinkshowjump?jump=previousslide" highlightClick="1"/>
          </p:cNvPr>
          <p:cNvSpPr/>
          <p:nvPr/>
        </p:nvSpPr>
        <p:spPr>
          <a:xfrm>
            <a:off x="10628075" y="3845732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042826"/>
              </p:ext>
            </p:extLst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0" name="圖片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0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73845" y="544768"/>
            <a:ext cx="1129177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                                                                                                    工具列區</a:t>
            </a:r>
            <a:endParaRPr lang="zh-TW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574630"/>
              </p:ext>
            </p:extLst>
          </p:nvPr>
        </p:nvGraphicFramePr>
        <p:xfrm>
          <a:off x="3811712" y="1193945"/>
          <a:ext cx="7911101" cy="5196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1506"/>
                <a:gridCol w="359595"/>
              </a:tblGrid>
              <a:tr h="387834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文本１名稱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08748">
                <a:tc>
                  <a:txBody>
                    <a:bodyPr/>
                    <a:lstStyle/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r>
                        <a:rPr lang="zh-TW" altLang="en-US" dirty="0" smtClean="0"/>
                        <a:t>文本內容區</a:t>
                      </a:r>
                      <a:endParaRPr lang="en-US" altLang="zh-TW" dirty="0" smtClean="0"/>
                    </a:p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869" y="1910235"/>
            <a:ext cx="236641" cy="224809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398869" y="6081666"/>
            <a:ext cx="236641" cy="224809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0"/>
            <a:ext cx="635110" cy="307777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zh-TW" altLang="en-US" sz="1400" dirty="0" smtClean="0"/>
              <a:t>佈局</a:t>
            </a:r>
            <a:r>
              <a:rPr lang="en-US" altLang="zh-TW" sz="1400" dirty="0" smtClean="0"/>
              <a:t>3</a:t>
            </a:r>
            <a:endParaRPr lang="zh-TW" altLang="en-US" sz="14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1862" y="1311293"/>
            <a:ext cx="161103" cy="176446"/>
          </a:xfrm>
          <a:prstGeom prst="rect">
            <a:avLst/>
          </a:prstGeom>
        </p:spPr>
      </p:pic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36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7768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29429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ctr"/>
                      <a:r>
                        <a:rPr lang="zh-TW" altLang="en-US" sz="1800" dirty="0" smtClean="0"/>
                        <a:t>目錄區</a:t>
                      </a:r>
                      <a:endParaRPr lang="en-US" altLang="zh-TW" sz="180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294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 smtClean="0"/>
                        <a:t>內容架構區</a:t>
                      </a:r>
                      <a:endParaRPr lang="zh-TW" alt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9" name="圖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000" y="1565777"/>
            <a:ext cx="236641" cy="224809"/>
          </a:xfrm>
          <a:prstGeom prst="rect">
            <a:avLst/>
          </a:prstGeom>
        </p:spPr>
      </p:pic>
      <p:pic>
        <p:nvPicPr>
          <p:cNvPr id="30" name="圖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356000" y="6069550"/>
            <a:ext cx="236641" cy="224809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 rotWithShape="1">
          <a:blip r:embed="rId4"/>
          <a:srcRect t="-2" b="51800"/>
          <a:stretch/>
        </p:blipFill>
        <p:spPr>
          <a:xfrm>
            <a:off x="651577" y="6136199"/>
            <a:ext cx="2598871" cy="115745"/>
          </a:xfrm>
          <a:prstGeom prst="rect">
            <a:avLst/>
          </a:prstGeom>
        </p:spPr>
      </p:pic>
      <p:graphicFrame>
        <p:nvGraphicFramePr>
          <p:cNvPr id="32" name="表格 31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3" name="圖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3348424" y="1796455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動作按鈕: 下一項 34">
            <a:hlinkClick r:id="" action="ppaction://hlinkshowjump?jump=nextslide" highlightClick="1"/>
          </p:cNvPr>
          <p:cNvSpPr/>
          <p:nvPr/>
        </p:nvSpPr>
        <p:spPr>
          <a:xfrm>
            <a:off x="11141923" y="1311293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動作按鈕: 上一項 35">
            <a:hlinkClick r:id="" action="ppaction://hlinkshowjump?jump=previousslide" highlightClick="1"/>
          </p:cNvPr>
          <p:cNvSpPr/>
          <p:nvPr/>
        </p:nvSpPr>
        <p:spPr>
          <a:xfrm>
            <a:off x="10957970" y="1311293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0" name="圖片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0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功能說明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21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8</a:t>
            </a:fld>
            <a:endParaRPr lang="zh-TW" altLang="en-US"/>
          </a:p>
        </p:txBody>
      </p:sp>
      <p:grpSp>
        <p:nvGrpSpPr>
          <p:cNvPr id="33" name="群組 32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34" name="文字方塊 33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35" name="群組 34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48" name="圖片 4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49" name="矩形 48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36" name="群組 35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46" name="圖片 4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47" name="矩形 46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37" name="群組 36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44" name="圖片 4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45" name="矩形 44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38" name="群組 37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43" name="圖片 4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39" name="群組 38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41" name="圖片 4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graphicFrame>
        <p:nvGraphicFramePr>
          <p:cNvPr id="50" name="表格 49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1" name="圖片 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52" name="圖片 5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082611"/>
              </p:ext>
            </p:extLst>
          </p:nvPr>
        </p:nvGraphicFramePr>
        <p:xfrm>
          <a:off x="5034337" y="1562885"/>
          <a:ext cx="5320159" cy="326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15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我們可以提供以下幾個幫助您理解意義的線索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內容架構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：提供閱讀經典時，查閱到相關的科判，並利用科判來對讀經典和註釋。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字詞釋義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：提供閱讀經典時，查閱到經典註釋、字詞典或百科中的名相解釋。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互為</a:t>
                      </a:r>
                      <a:r>
                        <a:rPr lang="zh-TW" altLang="en-US" sz="1600" b="0" dirty="0" smtClean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文本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</a:t>
                      </a:r>
                      <a:r>
                        <a:rPr lang="zh-TW" altLang="en-US" sz="1600" b="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閱讀經典時，查閱到相關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譯本，或內文中引證或參照的相關資料並作對讀。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情境指涉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：提供閱讀經典時，查閱到文句間情境關係，幫助理解經典。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文義思考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：提供經典中的思考問題，幫助讀者複習及理解經典中的意義。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4" name="群組 53"/>
          <p:cNvGrpSpPr/>
          <p:nvPr/>
        </p:nvGrpSpPr>
        <p:grpSpPr>
          <a:xfrm>
            <a:off x="907889" y="1357614"/>
            <a:ext cx="2473718" cy="865162"/>
            <a:chOff x="3502907" y="618135"/>
            <a:chExt cx="3163102" cy="1159100"/>
          </a:xfrm>
        </p:grpSpPr>
        <p:pic>
          <p:nvPicPr>
            <p:cNvPr id="55" name="圖片 54"/>
            <p:cNvPicPr>
              <a:picLocks noChangeAspect="1"/>
            </p:cNvPicPr>
            <p:nvPr/>
          </p:nvPicPr>
          <p:blipFill rotWithShape="1">
            <a:blip r:embed="rId2"/>
            <a:srcRect r="2999"/>
            <a:stretch/>
          </p:blipFill>
          <p:spPr>
            <a:xfrm>
              <a:off x="3502907" y="618135"/>
              <a:ext cx="1260031" cy="1159100"/>
            </a:xfrm>
            <a:prstGeom prst="rect">
              <a:avLst/>
            </a:prstGeom>
          </p:spPr>
        </p:pic>
        <p:sp>
          <p:nvSpPr>
            <p:cNvPr id="56" name="矩形 55"/>
            <p:cNvSpPr/>
            <p:nvPr/>
          </p:nvSpPr>
          <p:spPr>
            <a:xfrm>
              <a:off x="5118050" y="998988"/>
              <a:ext cx="1547959" cy="5360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  <a:effectLst>
              <a:softEdge rad="63500"/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zh-TW" altLang="en-US" sz="2000" dirty="0">
                  <a:solidFill>
                    <a:schemeClr val="tx1"/>
                  </a:solidFill>
                </a:rPr>
                <a:t>內容架構</a:t>
              </a: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964748" y="2786098"/>
            <a:ext cx="2609840" cy="1281213"/>
            <a:chOff x="5969722" y="652346"/>
            <a:chExt cx="3012511" cy="1440000"/>
          </a:xfrm>
        </p:grpSpPr>
        <p:sp>
          <p:nvSpPr>
            <p:cNvPr id="58" name="矩形 57"/>
            <p:cNvSpPr/>
            <p:nvPr/>
          </p:nvSpPr>
          <p:spPr>
            <a:xfrm>
              <a:off x="7584864" y="1034741"/>
              <a:ext cx="1397369" cy="4496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r>
                <a:rPr lang="zh-TW" altLang="en-US" sz="2000" dirty="0"/>
                <a:t>字詞釋義</a:t>
              </a:r>
            </a:p>
          </p:txBody>
        </p:sp>
        <p:pic>
          <p:nvPicPr>
            <p:cNvPr id="59" name="圖片 5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69722" y="652346"/>
              <a:ext cx="1302471" cy="1440000"/>
            </a:xfrm>
            <a:prstGeom prst="rect">
              <a:avLst/>
            </a:prstGeom>
          </p:spPr>
        </p:pic>
      </p:grpSp>
      <p:grpSp>
        <p:nvGrpSpPr>
          <p:cNvPr id="60" name="群組 59"/>
          <p:cNvGrpSpPr/>
          <p:nvPr/>
        </p:nvGrpSpPr>
        <p:grpSpPr>
          <a:xfrm>
            <a:off x="976490" y="4829325"/>
            <a:ext cx="2602579" cy="1405192"/>
            <a:chOff x="5490214" y="606035"/>
            <a:chExt cx="2780453" cy="1440000"/>
          </a:xfrm>
        </p:grpSpPr>
        <p:sp>
          <p:nvSpPr>
            <p:cNvPr id="61" name="矩形 60"/>
            <p:cNvSpPr/>
            <p:nvPr/>
          </p:nvSpPr>
          <p:spPr>
            <a:xfrm>
              <a:off x="6890001" y="937367"/>
              <a:ext cx="1380666" cy="5361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r>
                <a:rPr lang="zh-TW" altLang="en-US" sz="2000" dirty="0"/>
                <a:t>互為文本</a:t>
              </a:r>
              <a:r>
                <a:rPr lang="zh-TW" altLang="en-US" sz="2800" dirty="0"/>
                <a:t> </a:t>
              </a:r>
            </a:p>
          </p:txBody>
        </p:sp>
        <p:pic>
          <p:nvPicPr>
            <p:cNvPr id="62" name="圖片 6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0214" y="606035"/>
              <a:ext cx="1312942" cy="1440000"/>
            </a:xfrm>
            <a:prstGeom prst="rect">
              <a:avLst/>
            </a:prstGeom>
          </p:spPr>
        </p:pic>
      </p:grpSp>
      <p:grpSp>
        <p:nvGrpSpPr>
          <p:cNvPr id="63" name="群組 62"/>
          <p:cNvGrpSpPr/>
          <p:nvPr/>
        </p:nvGrpSpPr>
        <p:grpSpPr>
          <a:xfrm>
            <a:off x="8388741" y="4958037"/>
            <a:ext cx="2692707" cy="1276480"/>
            <a:chOff x="8664715" y="-468376"/>
            <a:chExt cx="3129277" cy="1440000"/>
          </a:xfrm>
        </p:grpSpPr>
        <p:pic>
          <p:nvPicPr>
            <p:cNvPr id="64" name="圖片 6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64715" y="-468376"/>
              <a:ext cx="1367305" cy="1440000"/>
            </a:xfrm>
            <a:prstGeom prst="rect">
              <a:avLst/>
            </a:prstGeom>
          </p:spPr>
        </p:pic>
        <p:sp>
          <p:nvSpPr>
            <p:cNvPr id="65" name="矩形 64"/>
            <p:cNvSpPr/>
            <p:nvPr/>
          </p:nvSpPr>
          <p:spPr>
            <a:xfrm>
              <a:off x="10387131" y="28294"/>
              <a:ext cx="1406861" cy="4513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r>
                <a:rPr lang="zh-TW" altLang="en-US" sz="2000" dirty="0"/>
                <a:t>文義思考</a:t>
              </a:r>
              <a:endParaRPr lang="en-US" altLang="zh-TW" sz="2000" dirty="0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4360639" y="4864572"/>
            <a:ext cx="2816492" cy="1440000"/>
            <a:chOff x="7018633" y="-83292"/>
            <a:chExt cx="2816492" cy="1440000"/>
          </a:xfrm>
        </p:grpSpPr>
        <p:pic>
          <p:nvPicPr>
            <p:cNvPr id="67" name="圖片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8633" y="-83292"/>
              <a:ext cx="1396366" cy="1440000"/>
            </a:xfrm>
            <a:prstGeom prst="rect">
              <a:avLst/>
            </a:prstGeom>
          </p:spPr>
        </p:pic>
        <p:sp>
          <p:nvSpPr>
            <p:cNvPr id="68" name="矩形 67"/>
            <p:cNvSpPr/>
            <p:nvPr/>
          </p:nvSpPr>
          <p:spPr>
            <a:xfrm>
              <a:off x="8624537" y="375098"/>
              <a:ext cx="1210588" cy="4001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r>
                <a:rPr lang="zh-TW" altLang="en-US" sz="2000" dirty="0"/>
                <a:t>情境指涉</a:t>
              </a:r>
            </a:p>
          </p:txBody>
        </p:sp>
      </p:grpSp>
      <p:grpSp>
        <p:nvGrpSpPr>
          <p:cNvPr id="69" name="群組 68"/>
          <p:cNvGrpSpPr/>
          <p:nvPr/>
        </p:nvGrpSpPr>
        <p:grpSpPr>
          <a:xfrm>
            <a:off x="6187379" y="1088221"/>
            <a:ext cx="3474264" cy="402362"/>
            <a:chOff x="8616463" y="407197"/>
            <a:chExt cx="2226622" cy="307327"/>
          </a:xfrm>
        </p:grpSpPr>
        <p:sp>
          <p:nvSpPr>
            <p:cNvPr id="70" name="文字方塊 69"/>
            <p:cNvSpPr txBox="1"/>
            <p:nvPr/>
          </p:nvSpPr>
          <p:spPr>
            <a:xfrm>
              <a:off x="8970360" y="407197"/>
              <a:ext cx="1872725" cy="258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 smtClean="0">
                  <a:latin typeface="超世紀細行書" panose="02000000000000000000" pitchFamily="2" charset="-120"/>
                  <a:ea typeface="超世紀細行書" panose="02000000000000000000" pitchFamily="2" charset="-120"/>
                </a:rPr>
                <a:t>智慧光閱讀小幫手功能說明</a:t>
              </a:r>
              <a:endParaRPr lang="zh-TW" altLang="en-US" sz="1600" b="1" dirty="0">
                <a:latin typeface="超世紀細行書" panose="02000000000000000000" pitchFamily="2" charset="-120"/>
                <a:ea typeface="超世紀細行書" panose="02000000000000000000" pitchFamily="2" charset="-120"/>
              </a:endParaRPr>
            </a:p>
          </p:txBody>
        </p:sp>
        <p:pic>
          <p:nvPicPr>
            <p:cNvPr id="71" name="圖片 70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616463" y="436694"/>
              <a:ext cx="329500" cy="2778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93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內容架構類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5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36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7768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8858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000" y="1565777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356000" y="6069550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7" y="6136199"/>
            <a:ext cx="2598871" cy="115745"/>
          </a:xfrm>
          <a:prstGeom prst="rect">
            <a:avLst/>
          </a:prstGeom>
        </p:spPr>
      </p:pic>
      <p:sp>
        <p:nvSpPr>
          <p:cNvPr id="24" name="圓角矩形圖說文字 23"/>
          <p:cNvSpPr/>
          <p:nvPr/>
        </p:nvSpPr>
        <p:spPr>
          <a:xfrm>
            <a:off x="296112" y="2449044"/>
            <a:ext cx="355465" cy="1107839"/>
          </a:xfrm>
          <a:prstGeom prst="wedgeRoundRectCallout">
            <a:avLst>
              <a:gd name="adj1" fmla="val 69346"/>
              <a:gd name="adj2" fmla="val -92621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２</a:t>
            </a:r>
            <a:r>
              <a:rPr lang="en-US" altLang="zh-TW" sz="1400" dirty="0" smtClean="0">
                <a:solidFill>
                  <a:srgbClr val="C00000"/>
                </a:solidFill>
                <a:latin typeface="+mn-ea"/>
              </a:rPr>
              <a:t> </a:t>
            </a: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選經典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09622" y="1710433"/>
          <a:ext cx="2441597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56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鳩摩羅什譯）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467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（唐</a:t>
                      </a:r>
                      <a:r>
                        <a:rPr lang="en-US" altLang="zh-TW" sz="7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玄奘譯）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金剛能斷般若波羅蜜經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（隋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達磨笈多譯）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金剛經（梵文本）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470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金剛經（藏譯本）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3330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金剛經（英譯本）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金剛般若波羅蜜經注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釋僧肇）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吉藏）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智顗）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金剛般若經疏論纂要（唐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宗密）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金剛經註疏（唐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慧淨）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金剛般若經贊述（唐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窺基）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金剛經疏記會編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（明釋大璸疏記科會）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3842534" y="1193944"/>
          <a:ext cx="7885177" cy="522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6713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33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佛在舍衛國祇樹給孤獨園，與大比丘眾千二百五十人俱。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『如來善護念諸菩薩，善付囑諸菩薩。』汝今諦聽，當為汝說。善男子、善女人，發阿耨多羅三藐三菩提心，應如是住，如是降伏其心。」「唯然。世尊！願樂欲聞。」佛告須菩提：「諸菩薩摩訶薩應如是降伏其心：『所有一切眾生之類，若卵生、若胎生、若濕生、若化生，若有色、若無色，若有想、若無想、若非有想非無想，我皆令入無餘涅槃而滅度之。』如是滅度無量無數無邊眾生，實無眾生得滅度者。何以故？須菩提！若菩薩有我相、人相、眾生相、壽者相，即非菩薩。」</a:t>
                      </a:r>
                      <a:endParaRPr lang="zh-TW" altLang="en-US" sz="1600" dirty="0" smtClean="0"/>
                    </a:p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圖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631" y="1678182"/>
            <a:ext cx="236641" cy="224809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61888"/>
            <a:ext cx="236641" cy="224809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-1" y="0"/>
            <a:ext cx="924675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開啟文本</a:t>
            </a:r>
            <a:endParaRPr lang="zh-TW" altLang="en-US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sp>
        <p:nvSpPr>
          <p:cNvPr id="73" name="圓角矩形圖說文字 72"/>
          <p:cNvSpPr/>
          <p:nvPr/>
        </p:nvSpPr>
        <p:spPr>
          <a:xfrm>
            <a:off x="2706832" y="126654"/>
            <a:ext cx="1298336" cy="241393"/>
          </a:xfrm>
          <a:prstGeom prst="wedgeRoundRectCallout">
            <a:avLst>
              <a:gd name="adj1" fmla="val -52570"/>
              <a:gd name="adj2" fmla="val 152732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１鍵入經名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pic>
        <p:nvPicPr>
          <p:cNvPr id="34" name="圖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848" y="1291927"/>
            <a:ext cx="161103" cy="176446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3348424" y="1796455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44" name="文字方塊 43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46" name="群組 45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61" name="圖片 6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62" name="矩形 61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48" name="群組 47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59" name="圖片 5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60" name="矩形 59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49" name="群組 48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56" name="圖片 5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57" name="矩形 56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50" name="群組 49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55" name="圖片 5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51" name="群組 50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53" name="圖片 5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63" name="動作按鈕: 下一項 62">
            <a:hlinkClick r:id="" action="ppaction://hlinkshowjump?jump=nextslide" highlightClick="1"/>
          </p:cNvPr>
          <p:cNvSpPr/>
          <p:nvPr/>
        </p:nvSpPr>
        <p:spPr>
          <a:xfrm>
            <a:off x="11115656" y="130143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動作按鈕: 上一項 63">
            <a:hlinkClick r:id="" action="ppaction://hlinkshowjump?jump=previousslide" highlightClick="1"/>
          </p:cNvPr>
          <p:cNvSpPr/>
          <p:nvPr/>
        </p:nvSpPr>
        <p:spPr>
          <a:xfrm>
            <a:off x="10931703" y="130143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8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145839"/>
              </p:ext>
            </p:extLst>
          </p:nvPr>
        </p:nvGraphicFramePr>
        <p:xfrm>
          <a:off x="517451" y="1174895"/>
          <a:ext cx="3160697" cy="5236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7768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8858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000" y="1565777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356000" y="6069550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7" y="6136199"/>
            <a:ext cx="2598871" cy="115745"/>
          </a:xfrm>
          <a:prstGeom prst="rect">
            <a:avLst/>
          </a:prstGeom>
        </p:spPr>
      </p:pic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893558"/>
              </p:ext>
            </p:extLst>
          </p:nvPr>
        </p:nvGraphicFramePr>
        <p:xfrm>
          <a:off x="709622" y="1710433"/>
          <a:ext cx="2441597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56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鳩摩羅什譯）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467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（唐</a:t>
                      </a:r>
                      <a:r>
                        <a:rPr lang="en-US" altLang="zh-TW" sz="7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玄奘譯）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金剛能斷般若波羅蜜經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（隋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達磨笈多譯）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金剛經（梵文本）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470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金剛經（藏譯本）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3330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金剛經（英譯本）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金剛般若波羅蜜經注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釋僧肇）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吉藏）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智顗）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金剛般若經疏論纂要（唐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宗密）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金剛經註疏（唐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慧淨）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金剛般若經贊述（唐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窺基）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金剛經疏記會編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（明釋大璸疏記科會）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3842534" y="1193944"/>
          <a:ext cx="7885177" cy="522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6713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33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佛在舍衛國祇樹給孤獨園，與大比丘眾千二百五十人俱。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『如來善護念諸菩薩，善付囑諸菩薩。』汝今諦聽，當為汝說。善男子、善女人，發阿耨多羅三藐三菩提心，應如是住，如是降伏其心。」「唯然。世尊！願樂欲聞。」佛告須菩提：「諸菩薩摩訶薩應如是降伏其心：『所有一切眾生之類，若卵生、若胎生、若濕生、若化生，若有色、若無色，若有想、若無想、若非有想非無想，我皆令入無餘涅槃而滅度之。』如是滅度無量無數無邊眾生，實無眾生得滅度者。何以故？須菩提！若菩薩有我相、人相、眾生相、壽者相，即非菩薩。」</a:t>
                      </a:r>
                      <a:endParaRPr lang="zh-TW" altLang="en-US" sz="1600" dirty="0" smtClean="0"/>
                    </a:p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圖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631" y="1678182"/>
            <a:ext cx="236641" cy="224809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61888"/>
            <a:ext cx="236641" cy="224809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-1" y="0"/>
            <a:ext cx="924675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開啟文本</a:t>
            </a:r>
            <a:endParaRPr lang="zh-TW" altLang="en-US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94595"/>
              </p:ext>
            </p:extLst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017248"/>
              </p:ext>
            </p:extLst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848" y="1291927"/>
            <a:ext cx="161103" cy="176446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3348424" y="1796455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44" name="文字方塊 43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46" name="群組 45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61" name="圖片 6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62" name="矩形 61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48" name="群組 47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59" name="圖片 5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60" name="矩形 59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49" name="群組 48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56" name="圖片 5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57" name="矩形 56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50" name="群組 49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55" name="圖片 5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51" name="群組 50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53" name="圖片 5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63" name="動作按鈕: 下一項 62">
            <a:hlinkClick r:id="" action="ppaction://hlinkshowjump?jump=nextslide" highlightClick="1"/>
          </p:cNvPr>
          <p:cNvSpPr/>
          <p:nvPr/>
        </p:nvSpPr>
        <p:spPr>
          <a:xfrm>
            <a:off x="11115656" y="130143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動作按鈕: 上一項 63">
            <a:hlinkClick r:id="" action="ppaction://hlinkshowjump?jump=previousslide" highlightClick="1"/>
          </p:cNvPr>
          <p:cNvSpPr/>
          <p:nvPr/>
        </p:nvSpPr>
        <p:spPr>
          <a:xfrm>
            <a:off x="10931703" y="130143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614029"/>
              </p:ext>
            </p:extLst>
          </p:nvPr>
        </p:nvGraphicFramePr>
        <p:xfrm>
          <a:off x="8518372" y="925560"/>
          <a:ext cx="3011401" cy="2541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40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我們可以提供以下幾個幫助您理解意義的線索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內容架構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：提供閱讀經典時，查閱到相關的科判，並利用科判來對讀經典和註釋。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字詞釋義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：提供閱讀經典時，查閱到經典註釋、字詞典或百科中的名相解釋。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互為</a:t>
                      </a:r>
                      <a:r>
                        <a:rPr lang="zh-TW" altLang="en-US" sz="1100" b="0" dirty="0" smtClean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文本</a:t>
                      </a:r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</a:t>
                      </a:r>
                      <a:r>
                        <a:rPr lang="zh-TW" altLang="en-US" sz="1100" b="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閱讀經典時，查閱到相關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譯本，或內文中引證或參照的相關資料並作對讀。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情境指涉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：提供閱讀經典時，查閱到文句間情境關係，幫助理解經典。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kern="1200" dirty="0" smtClean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文義思考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：提供經典中的思考問題，幫助讀者複習及理解經典中的意義。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5" name="圓角矩形圖說文字 64"/>
          <p:cNvSpPr/>
          <p:nvPr/>
        </p:nvSpPr>
        <p:spPr>
          <a:xfrm>
            <a:off x="11684272" y="1790586"/>
            <a:ext cx="355465" cy="2324214"/>
          </a:xfrm>
          <a:prstGeom prst="wedgeRoundRectCallout">
            <a:avLst>
              <a:gd name="adj1" fmla="val -98159"/>
              <a:gd name="adj2" fmla="val -15632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智慧光小幫手功能說明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55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091685"/>
              </p:ext>
            </p:extLst>
          </p:nvPr>
        </p:nvGraphicFramePr>
        <p:xfrm>
          <a:off x="517451" y="1174895"/>
          <a:ext cx="3160697" cy="528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53120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304674"/>
              </p:ext>
            </p:extLst>
          </p:nvPr>
        </p:nvGraphicFramePr>
        <p:xfrm>
          <a:off x="3842534" y="1193944"/>
          <a:ext cx="7885177" cy="522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6713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33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如是我聞。一時，佛在舍衛國祇樹給孤獨園，與大比丘眾千二百五十人俱。爾時，世尊食時，著衣持鉢，入舍衛大城乞食。於其城中，次第乞已，還至本處。飯食訖，收衣鉢，洗足已，敷座而坐。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『如來善護念諸菩薩，善付囑諸菩薩。』汝今諦聽，當為汝說。善男子、善女人，發阿耨多羅三藐三菩提心，應如是住，如是降伏其心。」「唯然。世尊！願樂欲聞。」佛告須菩提：「諸菩薩摩訶薩應如是降伏其心：『所有一切眾生之類，若卵生、若胎生、若濕生、若化生，若有色、若無色，若有想、若無想、若非有想非無想，我皆令入無餘涅槃而滅度之。』如是滅度無量無數無邊眾生，實無眾生得滅度者。何以故？須菩提！若菩薩有我相、人相、眾生相、壽者相，即非菩薩。」</a:t>
                      </a:r>
                      <a:endParaRPr lang="zh-TW" altLang="en-US" sz="1600" dirty="0" smtClean="0"/>
                    </a:p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圖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631" y="1678182"/>
            <a:ext cx="236641" cy="224809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61888"/>
            <a:ext cx="236641" cy="224809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-2" y="0"/>
            <a:ext cx="2208811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內容架構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昭明太子科判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848" y="1291927"/>
            <a:ext cx="161103" cy="176446"/>
          </a:xfrm>
          <a:prstGeom prst="rect">
            <a:avLst/>
          </a:prstGeom>
        </p:spPr>
      </p:pic>
      <p:sp>
        <p:nvSpPr>
          <p:cNvPr id="41" name="圓角矩形圖說文字 40"/>
          <p:cNvSpPr/>
          <p:nvPr/>
        </p:nvSpPr>
        <p:spPr>
          <a:xfrm>
            <a:off x="4877465" y="133038"/>
            <a:ext cx="1174137" cy="278366"/>
          </a:xfrm>
          <a:prstGeom prst="wedgeRoundRectCallout">
            <a:avLst>
              <a:gd name="adj1" fmla="val -67626"/>
              <a:gd name="adj2" fmla="val 111541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１按內容架檬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279680"/>
              </p:ext>
            </p:extLst>
          </p:nvPr>
        </p:nvGraphicFramePr>
        <p:xfrm>
          <a:off x="734423" y="1676420"/>
          <a:ext cx="244159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金剛般若波羅蜜經（姚秦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鳩摩羅什譯）（昭明太子）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4" name="圖片 43"/>
          <p:cNvPicPr>
            <a:picLocks noChangeAspect="1"/>
          </p:cNvPicPr>
          <p:nvPr/>
        </p:nvPicPr>
        <p:blipFill rotWithShape="1">
          <a:blip r:embed="rId6"/>
          <a:srcRect t="-1" b="42545"/>
          <a:stretch/>
        </p:blipFill>
        <p:spPr>
          <a:xfrm>
            <a:off x="1031849" y="3700335"/>
            <a:ext cx="1838325" cy="2402514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1282821" y="3935002"/>
            <a:ext cx="1172702" cy="205483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cxnSp>
        <p:nvCxnSpPr>
          <p:cNvPr id="11" name="直線單箭頭接點 10"/>
          <p:cNvCxnSpPr/>
          <p:nvPr/>
        </p:nvCxnSpPr>
        <p:spPr>
          <a:xfrm flipV="1">
            <a:off x="2455523" y="2404153"/>
            <a:ext cx="1438383" cy="15308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3326220" y="342686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8" name="群組 67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69" name="文字方塊 68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70" name="群組 69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85" name="圖片 8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86" name="矩形 85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73" name="群組 72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83" name="圖片 8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84" name="矩形 83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74" name="群組 73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81" name="圖片 80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82" name="矩形 81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75" name="群組 74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80" name="圖片 79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76" name="群組 75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77" name="矩形 76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78" name="圖片 77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87" name="動作按鈕: 下一項 86">
            <a:hlinkClick r:id="" action="ppaction://hlinkshowjump?jump=nextslide" highlightClick="1"/>
          </p:cNvPr>
          <p:cNvSpPr/>
          <p:nvPr/>
        </p:nvSpPr>
        <p:spPr>
          <a:xfrm>
            <a:off x="11115656" y="1315858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動作按鈕: 上一項 87">
            <a:hlinkClick r:id="" action="ppaction://hlinkshowjump?jump=previousslide" highlightClick="1"/>
          </p:cNvPr>
          <p:cNvSpPr/>
          <p:nvPr/>
        </p:nvSpPr>
        <p:spPr>
          <a:xfrm>
            <a:off x="10931703" y="1315858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圓角矩形圖說文字 89"/>
          <p:cNvSpPr/>
          <p:nvPr/>
        </p:nvSpPr>
        <p:spPr>
          <a:xfrm>
            <a:off x="295502" y="4037743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３科判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出現在下方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92" name="圓角矩形圖說文字 91"/>
          <p:cNvSpPr/>
          <p:nvPr/>
        </p:nvSpPr>
        <p:spPr>
          <a:xfrm>
            <a:off x="317891" y="1650422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２</a:t>
            </a:r>
            <a:r>
              <a:rPr lang="en-US" altLang="zh-TW" sz="1400" dirty="0" smtClean="0">
                <a:solidFill>
                  <a:srgbClr val="C00000"/>
                </a:solidFill>
                <a:latin typeface="+mn-ea"/>
              </a:rPr>
              <a:t> </a:t>
            </a: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10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8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53120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734423" y="1676420"/>
          <a:ext cx="2441597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金剛般若波羅蜜經（姚秦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鳩摩羅什譯）（昭明太子）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李慧萍增補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)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105" y="3642370"/>
            <a:ext cx="1990725" cy="2524125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1509562" y="4537677"/>
            <a:ext cx="904865" cy="205483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86609"/>
              </p:ext>
            </p:extLst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</a:rPr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初曰如是者，不異為如，無非曰是。凡人相信，則曰如是。不信，必曰不如是。今結集者</a:t>
                      </a: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621595"/>
              </p:ext>
            </p:extLst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如是我聞。一時，佛在舍衛國祇樹給孤獨園，與大比丘眾千二百五十人俱。</a:t>
                      </a:r>
                      <a:r>
                        <a:rPr lang="zh-TW" altLang="en-US" sz="1600" dirty="0" smtClean="0">
                          <a:latin typeface="+mn-ea"/>
                          <a:ea typeface="+mn-ea"/>
                        </a:rPr>
                        <a:t>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600" dirty="0" smtClean="0">
                          <a:latin typeface="+mn-ea"/>
                          <a:ea typeface="+mn-ea"/>
                        </a:rPr>
                        <a:t>『</a:t>
                      </a:r>
                      <a:r>
                        <a:rPr lang="zh-TW" altLang="en-US" sz="1600" dirty="0" smtClean="0">
                          <a:latin typeface="+mn-ea"/>
                          <a:ea typeface="+mn-ea"/>
                        </a:rPr>
                        <a:t>如來善護念諸菩薩，善付囑諸菩薩。</a:t>
                      </a:r>
                      <a:r>
                        <a:rPr lang="en-US" altLang="zh-TW" sz="1600" dirty="0" smtClean="0">
                          <a:latin typeface="+mn-ea"/>
                          <a:ea typeface="+mn-ea"/>
                        </a:rPr>
                        <a:t>』</a:t>
                      </a:r>
                      <a:r>
                        <a:rPr lang="zh-TW" altLang="en-US" sz="1600" dirty="0" smtClean="0">
                          <a:latin typeface="+mn-ea"/>
                          <a:ea typeface="+mn-ea"/>
                        </a:rPr>
                        <a:t>汝今諦聽，當為汝說。善男子、善女人，發阿耨多羅三藐三菩提心，應如是住，如是降伏其心。」「唯然。世尊！願樂欲聞。」佛告須菩提：「諸菩薩摩訶薩應如是</a:t>
                      </a:r>
                      <a:endParaRPr lang="zh-TW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8" name="圖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1" name="圖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36833" y="6181953"/>
            <a:ext cx="236641" cy="224809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55" name="圖片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>
          <a:xfrm>
            <a:off x="-2" y="0"/>
            <a:ext cx="2113809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內容架構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江味農科判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cxnSp>
        <p:nvCxnSpPr>
          <p:cNvPr id="24" name="直線單箭頭接點 23"/>
          <p:cNvCxnSpPr>
            <a:stCxn id="41" idx="3"/>
          </p:cNvCxnSpPr>
          <p:nvPr/>
        </p:nvCxnSpPr>
        <p:spPr>
          <a:xfrm flipV="1">
            <a:off x="2414427" y="1730963"/>
            <a:ext cx="1479479" cy="2909456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3363836" y="3441940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7" name="群組 76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78" name="文字方塊 77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79" name="群組 78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92" name="圖片 9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93" name="矩形 92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80" name="群組 79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90" name="圖片 8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91" name="矩形 90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81" name="群組 80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88" name="圖片 87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89" name="矩形 88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82" name="群組 81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87" name="圖片 8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83" name="群組 82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85" name="圖片 84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94" name="動作按鈕: 下一項 93">
            <a:hlinkClick r:id="" action="ppaction://hlinkshowjump?jump=nextslide" highlightClick="1"/>
          </p:cNvPr>
          <p:cNvSpPr/>
          <p:nvPr/>
        </p:nvSpPr>
        <p:spPr>
          <a:xfrm>
            <a:off x="11115656" y="1250703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動作按鈕: 上一項 94">
            <a:hlinkClick r:id="" action="ppaction://hlinkshowjump?jump=previousslide" highlightClick="1"/>
          </p:cNvPr>
          <p:cNvSpPr/>
          <p:nvPr/>
        </p:nvSpPr>
        <p:spPr>
          <a:xfrm>
            <a:off x="10931703" y="1250703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動作按鈕: 下一項 95">
            <a:hlinkClick r:id="" action="ppaction://hlinkshowjump?jump=nextslide" highlightClick="1"/>
          </p:cNvPr>
          <p:cNvSpPr/>
          <p:nvPr/>
        </p:nvSpPr>
        <p:spPr>
          <a:xfrm>
            <a:off x="11115656" y="3816656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動作按鈕: 上一項 96">
            <a:hlinkClick r:id="" action="ppaction://hlinkshowjump?jump=previousslide" highlightClick="1"/>
          </p:cNvPr>
          <p:cNvSpPr/>
          <p:nvPr/>
        </p:nvSpPr>
        <p:spPr>
          <a:xfrm>
            <a:off x="10931703" y="3816656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圓角矩形圖說文字 98"/>
          <p:cNvSpPr/>
          <p:nvPr/>
        </p:nvSpPr>
        <p:spPr>
          <a:xfrm>
            <a:off x="313749" y="4001935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２科判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出現在下方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01" name="圓角矩形圖說文字 100"/>
          <p:cNvSpPr/>
          <p:nvPr/>
        </p:nvSpPr>
        <p:spPr>
          <a:xfrm>
            <a:off x="317891" y="1650422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１</a:t>
            </a:r>
            <a:r>
              <a:rPr lang="en-US" altLang="zh-TW" sz="1400" dirty="0" smtClean="0">
                <a:solidFill>
                  <a:srgbClr val="C00000"/>
                </a:solidFill>
                <a:latin typeface="+mn-ea"/>
              </a:rPr>
              <a:t> </a:t>
            </a: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2414427" y="4537677"/>
            <a:ext cx="1479479" cy="102742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3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426506"/>
              </p:ext>
            </p:extLst>
          </p:nvPr>
        </p:nvGraphicFramePr>
        <p:xfrm>
          <a:off x="517451" y="1174895"/>
          <a:ext cx="3160697" cy="5186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756675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189821"/>
              </p:ext>
            </p:extLst>
          </p:nvPr>
        </p:nvGraphicFramePr>
        <p:xfrm>
          <a:off x="734423" y="1676420"/>
          <a:ext cx="2441597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金剛般若波羅蜜經（姚秦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鳩摩羅什譯）（昭明太子）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李慧萍增補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)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628448"/>
              </p:ext>
            </p:extLst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 smtClean="0">
                          <a:solidFill>
                            <a:srgbClr val="0000FF"/>
                          </a:solidFill>
                        </a:rPr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</a:t>
                      </a:r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初曰如是者，不異為如，無非曰是。凡人相信，則曰如是。不信，必曰不如是。今結集者一啟口而鄭重言之曰如是，所以明其言言如佛所說，辭義無謬也，（校也，舊版無。據原稿補。）則足以信今而傳後矣，故曰信成就也。華嚴經曰：信為道元（校元，舊版作源，經及原稿作元。）功</a:t>
                      </a:r>
                      <a:endParaRPr lang="en-US" altLang="zh-TW" sz="1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726439"/>
              </p:ext>
            </p:extLst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如是我聞。一時，佛在舍衛國祇樹給孤獨園，與大比丘眾千二百五十人俱。</a:t>
                      </a:r>
                      <a:r>
                        <a:rPr lang="zh-TW" altLang="en-US" sz="1600" dirty="0" smtClean="0">
                          <a:latin typeface="+mn-ea"/>
                          <a:ea typeface="+mn-ea"/>
                        </a:rPr>
                        <a:t>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600" dirty="0" smtClean="0">
                          <a:latin typeface="+mn-ea"/>
                          <a:ea typeface="+mn-ea"/>
                        </a:rPr>
                        <a:t>『</a:t>
                      </a:r>
                      <a:r>
                        <a:rPr lang="zh-TW" altLang="en-US" sz="1600" dirty="0" smtClean="0">
                          <a:latin typeface="+mn-ea"/>
                          <a:ea typeface="+mn-ea"/>
                        </a:rPr>
                        <a:t>如來善護念諸菩薩，善付囑諸菩薩。</a:t>
                      </a:r>
                      <a:r>
                        <a:rPr lang="en-US" altLang="zh-TW" sz="1600" dirty="0" smtClean="0">
                          <a:latin typeface="+mn-ea"/>
                          <a:ea typeface="+mn-ea"/>
                        </a:rPr>
                        <a:t>』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汝今諦聽，當為汝說。善男子、善女人，發阿耨多羅三藐三菩提心，應如是住，如是降伏其心。」「唯然。世尊！願樂欲聞。」佛告須菩提：「諸菩薩摩訶薩應如是</a:t>
                      </a:r>
                      <a:endParaRPr lang="zh-TW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55" name="圖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56" name="圖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57" name="圖片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7"/>
          <a:srcRect b="41870"/>
          <a:stretch/>
        </p:blipFill>
        <p:spPr>
          <a:xfrm>
            <a:off x="754121" y="3556883"/>
            <a:ext cx="2393778" cy="2571164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1632667" y="4768847"/>
            <a:ext cx="1172702" cy="205483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/>
          <p:cNvSpPr/>
          <p:nvPr/>
        </p:nvSpPr>
        <p:spPr>
          <a:xfrm>
            <a:off x="1364659" y="4411220"/>
            <a:ext cx="649076" cy="155750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/>
          <p:cNvCxnSpPr>
            <a:stCxn id="44" idx="3"/>
          </p:cNvCxnSpPr>
          <p:nvPr/>
        </p:nvCxnSpPr>
        <p:spPr>
          <a:xfrm flipV="1">
            <a:off x="2805369" y="4660408"/>
            <a:ext cx="985795" cy="211181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46" idx="3"/>
          </p:cNvCxnSpPr>
          <p:nvPr/>
        </p:nvCxnSpPr>
        <p:spPr>
          <a:xfrm flipV="1">
            <a:off x="2013735" y="1916759"/>
            <a:ext cx="1777429" cy="2572336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3363836" y="3332073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/>
        </p:nvSpPr>
        <p:spPr>
          <a:xfrm>
            <a:off x="-2" y="0"/>
            <a:ext cx="2303815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內容架構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李慧萍增補科判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grpSp>
        <p:nvGrpSpPr>
          <p:cNvPr id="82" name="群組 81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83" name="文字方塊 82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84" name="群組 83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98" name="矩形 97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85" name="群組 84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95" name="圖片 9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96" name="矩形 95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86" name="群組 85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93" name="圖片 9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94" name="矩形 93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87" name="群組 86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2" name="圖片 91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88" name="群組 87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89" name="矩形 88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0" name="圖片 89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99" name="動作按鈕: 下一項 98">
            <a:hlinkClick r:id="" action="ppaction://hlinkshowjump?jump=nextslide" highlightClick="1"/>
          </p:cNvPr>
          <p:cNvSpPr/>
          <p:nvPr/>
        </p:nvSpPr>
        <p:spPr>
          <a:xfrm>
            <a:off x="11255690" y="124605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動作按鈕: 上一項 99">
            <a:hlinkClick r:id="" action="ppaction://hlinkshowjump?jump=previousslide" highlightClick="1"/>
          </p:cNvPr>
          <p:cNvSpPr/>
          <p:nvPr/>
        </p:nvSpPr>
        <p:spPr>
          <a:xfrm>
            <a:off x="11071737" y="124605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動作按鈕: 下一項 100">
            <a:hlinkClick r:id="" action="ppaction://hlinkshowjump?jump=nextslide" highlightClick="1"/>
          </p:cNvPr>
          <p:cNvSpPr/>
          <p:nvPr/>
        </p:nvSpPr>
        <p:spPr>
          <a:xfrm>
            <a:off x="11255690" y="382548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動作按鈕: 上一項 101">
            <a:hlinkClick r:id="" action="ppaction://hlinkshowjump?jump=previousslide" highlightClick="1"/>
          </p:cNvPr>
          <p:cNvSpPr/>
          <p:nvPr/>
        </p:nvSpPr>
        <p:spPr>
          <a:xfrm>
            <a:off x="11071737" y="382548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圓角矩形圖說文字 103"/>
          <p:cNvSpPr/>
          <p:nvPr/>
        </p:nvSpPr>
        <p:spPr>
          <a:xfrm>
            <a:off x="296111" y="4037743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２科判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出現在下方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05" name="圓角矩形圖說文字 104"/>
          <p:cNvSpPr/>
          <p:nvPr/>
        </p:nvSpPr>
        <p:spPr>
          <a:xfrm>
            <a:off x="3295504" y="3672947"/>
            <a:ext cx="355465" cy="2339035"/>
          </a:xfrm>
          <a:prstGeom prst="wedgeRoundRectCallout">
            <a:avLst>
              <a:gd name="adj1" fmla="val 46223"/>
              <a:gd name="adj2" fmla="val -2492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>
                <a:solidFill>
                  <a:srgbClr val="C00000"/>
                </a:solidFill>
              </a:rPr>
              <a:t>捲軸往下，可看到更多的科判</a:t>
            </a:r>
            <a:endParaRPr lang="zh-TW" altLang="en-US" sz="1100" dirty="0">
              <a:solidFill>
                <a:srgbClr val="C00000"/>
              </a:solidFill>
            </a:endParaRPr>
          </a:p>
        </p:txBody>
      </p:sp>
      <p:sp>
        <p:nvSpPr>
          <p:cNvPr id="106" name="圓角矩形圖說文字 105"/>
          <p:cNvSpPr/>
          <p:nvPr/>
        </p:nvSpPr>
        <p:spPr>
          <a:xfrm>
            <a:off x="317891" y="1650422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１</a:t>
            </a:r>
            <a:r>
              <a:rPr lang="en-US" altLang="zh-TW" sz="1400" dirty="0" smtClean="0">
                <a:solidFill>
                  <a:srgbClr val="C00000"/>
                </a:solidFill>
                <a:latin typeface="+mn-ea"/>
              </a:rPr>
              <a:t> </a:t>
            </a: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1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081354"/>
              </p:ext>
            </p:extLst>
          </p:nvPr>
        </p:nvGraphicFramePr>
        <p:xfrm>
          <a:off x="517451" y="1174895"/>
          <a:ext cx="3160697" cy="5340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327385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201923"/>
              </p:ext>
            </p:extLst>
          </p:nvPr>
        </p:nvGraphicFramePr>
        <p:xfrm>
          <a:off x="3843926" y="3753293"/>
          <a:ext cx="7885177" cy="279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 smtClean="0">
                          <a:solidFill>
                            <a:srgbClr val="0000FF"/>
                          </a:solidFill>
                        </a:rPr>
                        <a:t>佛為出家制三衣。一名安陀會，此名五條。（翦布為方塊，縫而聯之如田，故名福田衣。五條者方形大，九條則方形漸小。）亦名著體衣，作務及坐臥著之。一名鬱多羅僧，此名七條。講經說法，則加於五條之上著之，故又名上衣。（五條又名下品，七條又名中品，九條又名上品。）若居稠人廣眾，或入大都會，以及王宮，則著九條者，梵名僧伽黎，亦名大衣。今將入城乞食，故特著大衣也。三衣，總名加沙。加沙者，雜也。非但以色有青黃赤黑紫為雜也。（此依梵網說。他書或但說青黑赤，或但說赤，或曰：赤衣上加青黑等點。）以不用正赤色。或兼青，或兼黃，或兼黑，或兼紫故。不但赤非正赤，即青、黃、黑、紫，亦非正青、正黃、正黑、正紫，是之謂雜。（如此說法，係博采眾說而融會之，知其乃是如此，古無如是明白說者。）故赤而偏青，則成黑泥之色，故謂之披緇。赤而兼黃，則謂之木蘭色也。紫色，亦是赤兼黑而成，皆非正色。故又謂之不正色、壞色、染色。所以如此者，取其與在家人別，亦示不住於色之意。（增一阿含云：染作加沙衣，味為加沙味。故加沙訓雜最妥。）如此之色，則闇淡無光彩，亦是不炫燿之意。著衣、持鉢、乞食等等，皆戒律制定。世尊如此，即是本身作則教人持戒也。鉢等，皆如常說。</a:t>
                      </a:r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乞食有多義。略言之，降伏我慢故，不貪口味故。（這家布施甜，他家或布施鹹，故名加沙味。）專心修道故，（以上就出家邊說。）令見者生慚愧心故。出家本為度眾生。欲度眾生，須先斷惑，斷惑必須苦行，使一般人見之而生慚愧。曰：以度眾生故而自苦如此，我輩乃</a:t>
                      </a:r>
                      <a:endParaRPr lang="en-US" altLang="zh-TW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137452"/>
              </p:ext>
            </p:extLst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如是我聞。一時，佛在舍衛國祇樹給孤獨園，與大比丘眾千二百五十人俱。</a:t>
                      </a:r>
                      <a:r>
                        <a:rPr lang="zh-TW" altLang="en-US" sz="16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爾時，世尊食時，著衣持鉢，入舍衛大城乞食。於其城中，次第乞已，還至本處。飯食訖，收衣鉢，洗足已，敷座而坐。</a:t>
                      </a:r>
                      <a:r>
                        <a:rPr lang="zh-TW" altLang="en-US" sz="1600" dirty="0" smtClean="0">
                          <a:latin typeface="+mn-ea"/>
                          <a:ea typeface="+mn-ea"/>
                        </a:rPr>
                        <a:t>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600" dirty="0" smtClean="0">
                          <a:latin typeface="+mn-ea"/>
                          <a:ea typeface="+mn-ea"/>
                        </a:rPr>
                        <a:t>『</a:t>
                      </a:r>
                      <a:r>
                        <a:rPr lang="zh-TW" altLang="en-US" sz="1600" dirty="0" smtClean="0">
                          <a:latin typeface="+mn-ea"/>
                          <a:ea typeface="+mn-ea"/>
                        </a:rPr>
                        <a:t>如來善護念諸菩薩，善付囑諸菩薩。</a:t>
                      </a:r>
                      <a:r>
                        <a:rPr lang="en-US" altLang="zh-TW" sz="1600" dirty="0" smtClean="0">
                          <a:latin typeface="+mn-ea"/>
                          <a:ea typeface="+mn-ea"/>
                        </a:rPr>
                        <a:t>』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汝今諦聽，當為汝說。善男子、善女人，發阿耨多羅三藐三菩提心，應如是住，如是降伏其心。」「唯然。世尊！願樂欲聞。」佛告須菩提：「諸菩薩摩訶薩應如是</a:t>
                      </a:r>
                      <a:endParaRPr lang="zh-TW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55" name="圖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56" name="圖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57" name="圖片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7"/>
          <a:srcRect b="4918"/>
          <a:stretch/>
        </p:blipFill>
        <p:spPr>
          <a:xfrm>
            <a:off x="828955" y="1803964"/>
            <a:ext cx="2446875" cy="4298885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1722958" y="4900773"/>
            <a:ext cx="527082" cy="176298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/>
          <p:nvPr/>
        </p:nvCxnSpPr>
        <p:spPr>
          <a:xfrm flipV="1">
            <a:off x="2075380" y="2229492"/>
            <a:ext cx="1818526" cy="23219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2250040" y="4900773"/>
            <a:ext cx="1643866" cy="1127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1472972" y="4473577"/>
            <a:ext cx="527082" cy="176298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矩形 47"/>
          <p:cNvSpPr/>
          <p:nvPr/>
        </p:nvSpPr>
        <p:spPr>
          <a:xfrm>
            <a:off x="3342531" y="507444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圓角矩形圖說文字 48"/>
          <p:cNvSpPr/>
          <p:nvPr/>
        </p:nvSpPr>
        <p:spPr>
          <a:xfrm>
            <a:off x="3306685" y="2310840"/>
            <a:ext cx="355465" cy="2339035"/>
          </a:xfrm>
          <a:prstGeom prst="wedgeRoundRectCallout">
            <a:avLst>
              <a:gd name="adj1" fmla="val 46223"/>
              <a:gd name="adj2" fmla="val -2492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>
                <a:solidFill>
                  <a:srgbClr val="C00000"/>
                </a:solidFill>
              </a:rPr>
              <a:t>捲軸往下，可看到更多的科判</a:t>
            </a:r>
            <a:endParaRPr lang="zh-TW" altLang="en-US" sz="1100" dirty="0">
              <a:solidFill>
                <a:srgbClr val="C00000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-2" y="0"/>
            <a:ext cx="2303815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內容架構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李慧萍增補科判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grpSp>
        <p:nvGrpSpPr>
          <p:cNvPr id="80" name="群組 79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81" name="文字方塊 80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82" name="群組 81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95" name="圖片 9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96" name="矩形 95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83" name="群組 82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93" name="圖片 9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94" name="矩形 93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84" name="群組 83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91" name="圖片 90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92" name="矩形 91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85" name="群組 84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89" name="矩形 88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0" name="圖片 89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86" name="群組 85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88" name="圖片 87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18" name="動作按鈕: 下一項 17">
            <a:hlinkClick r:id="" action="ppaction://hlinkshowjump?jump=nextslide" highlightClick="1"/>
          </p:cNvPr>
          <p:cNvSpPr/>
          <p:nvPr/>
        </p:nvSpPr>
        <p:spPr>
          <a:xfrm>
            <a:off x="11249220" y="1255510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動作按鈕: 上一項 18">
            <a:hlinkClick r:id="" action="ppaction://hlinkshowjump?jump=previousslide" highlightClick="1"/>
          </p:cNvPr>
          <p:cNvSpPr/>
          <p:nvPr/>
        </p:nvSpPr>
        <p:spPr>
          <a:xfrm>
            <a:off x="11065267" y="1255510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動作按鈕: 下一項 96">
            <a:hlinkClick r:id="" action="ppaction://hlinkshowjump?jump=nextslide" highlightClick="1"/>
          </p:cNvPr>
          <p:cNvSpPr/>
          <p:nvPr/>
        </p:nvSpPr>
        <p:spPr>
          <a:xfrm>
            <a:off x="11254708" y="3835347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動作按鈕: 上一項 97">
            <a:hlinkClick r:id="" action="ppaction://hlinkshowjump?jump=previousslide" highlightClick="1"/>
          </p:cNvPr>
          <p:cNvSpPr/>
          <p:nvPr/>
        </p:nvSpPr>
        <p:spPr>
          <a:xfrm>
            <a:off x="11070755" y="3835347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332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、字詞釋義類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01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8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53120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271830"/>
              </p:ext>
            </p:extLst>
          </p:nvPr>
        </p:nvGraphicFramePr>
        <p:xfrm>
          <a:off x="3843926" y="3753293"/>
          <a:ext cx="7885177" cy="276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</a:t>
                      </a:r>
                      <a:r>
                        <a:rPr lang="zh-TW" altLang="en-US" sz="1400" dirty="0" smtClean="0">
                          <a:solidFill>
                            <a:srgbClr val="0000FF"/>
                          </a:solidFill>
                        </a:rPr>
                        <a:t>初曰如是者，不異為如，無非曰是。凡人相信，則曰如是。不信，必曰不如是。今結集者一啟口而鄭重言之曰如是，所以明其言言如佛所說，辭義無謬也，（校也，舊版無。據原稿補。）則足以信今而傳後矣，故曰信成就也。華嚴經曰：信為道元（校元，舊版作源，經及原稿作元。）功德母，長養一切諸善法。信乃入道初門，故列在最初。</a:t>
                      </a:r>
                      <a:endParaRPr lang="en-US" altLang="zh-TW" sz="1400" dirty="0" smtClean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是我聞。一時，佛在舍衛國祇樹給孤獨園，與大比丘眾千二百五十人俱。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『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如來善護念諸菩薩，善付囑諸菩薩。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』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55" name="圖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56" name="圖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57" name="圖片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849348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字詞釋義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科判</a:t>
            </a:r>
            <a:r>
              <a:rPr lang="en-US" altLang="zh-TW" sz="1400" dirty="0" smtClean="0">
                <a:solidFill>
                  <a:prstClr val="black"/>
                </a:solidFill>
              </a:rPr>
              <a:t>-</a:t>
            </a:r>
            <a:r>
              <a:rPr lang="zh-TW" altLang="en-US" sz="1400" dirty="0" smtClean="0">
                <a:solidFill>
                  <a:prstClr val="black"/>
                </a:solidFill>
              </a:rPr>
              <a:t>名相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871712" y="1506154"/>
            <a:ext cx="926319" cy="28853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/>
          </p:nvPr>
        </p:nvGraphicFramePr>
        <p:xfrm>
          <a:off x="808849" y="1749447"/>
          <a:ext cx="2441597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字詞典、百科類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中華佛教百科全書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佛光大辭典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圓角矩形圖說文字 43"/>
          <p:cNvSpPr/>
          <p:nvPr/>
        </p:nvSpPr>
        <p:spPr>
          <a:xfrm>
            <a:off x="6247705" y="88278"/>
            <a:ext cx="1174137" cy="278366"/>
          </a:xfrm>
          <a:prstGeom prst="wedgeRoundRectCallout">
            <a:avLst>
              <a:gd name="adj1" fmla="val -67626"/>
              <a:gd name="adj2" fmla="val 111541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rgbClr val="C00000"/>
                </a:solidFill>
                <a:latin typeface="+mn-ea"/>
              </a:rPr>
              <a:t>１</a:t>
            </a:r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按字詞釋義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047" y="3648235"/>
            <a:ext cx="1685925" cy="2476500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1332284" y="3842751"/>
            <a:ext cx="845838" cy="28853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2" name="圖片 41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cxnSp>
        <p:nvCxnSpPr>
          <p:cNvPr id="13" name="直線單箭頭接點 12"/>
          <p:cNvCxnSpPr/>
          <p:nvPr/>
        </p:nvCxnSpPr>
        <p:spPr>
          <a:xfrm>
            <a:off x="2178121" y="4131288"/>
            <a:ext cx="1693591" cy="1601692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endCxn id="48" idx="3"/>
          </p:cNvCxnSpPr>
          <p:nvPr/>
        </p:nvCxnSpPr>
        <p:spPr>
          <a:xfrm flipH="1">
            <a:off x="2178122" y="1730963"/>
            <a:ext cx="1808252" cy="2256057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圓角矩形圖說文字 48"/>
          <p:cNvSpPr/>
          <p:nvPr/>
        </p:nvSpPr>
        <p:spPr>
          <a:xfrm>
            <a:off x="4698630" y="2617650"/>
            <a:ext cx="1657314" cy="423719"/>
          </a:xfrm>
          <a:prstGeom prst="wedgeRoundRectCallout">
            <a:avLst>
              <a:gd name="adj1" fmla="val -38288"/>
              <a:gd name="adj2" fmla="val -16946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363836" y="3534454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0" name="群組 79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81" name="文字方塊 80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82" name="群組 81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95" name="圖片 9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96" name="矩形 95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83" name="群組 82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93" name="圖片 9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94" name="矩形 93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84" name="群組 83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91" name="圖片 90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92" name="矩形 91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85" name="群組 84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89" name="矩形 88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0" name="圖片 89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86" name="群組 85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88" name="圖片 87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97" name="動作按鈕: 下一項 96">
            <a:hlinkClick r:id="" action="ppaction://hlinkshowjump?jump=nextslide" highlightClick="1"/>
          </p:cNvPr>
          <p:cNvSpPr/>
          <p:nvPr/>
        </p:nvSpPr>
        <p:spPr>
          <a:xfrm>
            <a:off x="11255690" y="125632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動作按鈕: 上一項 97">
            <a:hlinkClick r:id="" action="ppaction://hlinkshowjump?jump=previousslide" highlightClick="1"/>
          </p:cNvPr>
          <p:cNvSpPr/>
          <p:nvPr/>
        </p:nvSpPr>
        <p:spPr>
          <a:xfrm>
            <a:off x="11071737" y="125632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動作按鈕: 下一項 98">
            <a:hlinkClick r:id="" action="ppaction://hlinkshowjump?jump=nextslide" highlightClick="1"/>
          </p:cNvPr>
          <p:cNvSpPr/>
          <p:nvPr/>
        </p:nvSpPr>
        <p:spPr>
          <a:xfrm>
            <a:off x="11255690" y="3837204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動作按鈕: 上一項 99">
            <a:hlinkClick r:id="" action="ppaction://hlinkshowjump?jump=previousslide" highlightClick="1"/>
          </p:cNvPr>
          <p:cNvSpPr/>
          <p:nvPr/>
        </p:nvSpPr>
        <p:spPr>
          <a:xfrm>
            <a:off x="11071737" y="3837204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圓角矩形圖說文字 100"/>
          <p:cNvSpPr/>
          <p:nvPr/>
        </p:nvSpPr>
        <p:spPr>
          <a:xfrm>
            <a:off x="307617" y="4013650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３科判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出現在下方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02" name="圓角矩形圖說文字 101"/>
          <p:cNvSpPr/>
          <p:nvPr/>
        </p:nvSpPr>
        <p:spPr>
          <a:xfrm>
            <a:off x="317891" y="1650422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２</a:t>
            </a:r>
            <a:r>
              <a:rPr lang="en-US" altLang="zh-TW" sz="1400" dirty="0" smtClean="0">
                <a:solidFill>
                  <a:srgbClr val="C00000"/>
                </a:solidFill>
                <a:latin typeface="+mn-ea"/>
              </a:rPr>
              <a:t> </a:t>
            </a: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grpSp>
        <p:nvGrpSpPr>
          <p:cNvPr id="61" name="群組 60"/>
          <p:cNvGrpSpPr/>
          <p:nvPr/>
        </p:nvGrpSpPr>
        <p:grpSpPr>
          <a:xfrm>
            <a:off x="4698630" y="1788806"/>
            <a:ext cx="2266766" cy="347377"/>
            <a:chOff x="6404624" y="4304873"/>
            <a:chExt cx="2266766" cy="347377"/>
          </a:xfrm>
        </p:grpSpPr>
        <p:sp>
          <p:nvSpPr>
            <p:cNvPr id="62" name="矩形 61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3" name="圖片 6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64" name="圖片 6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65" name="圖片 6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66" name="圖片 6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67" name="圖片 6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68" name="矩形 67"/>
          <p:cNvSpPr/>
          <p:nvPr/>
        </p:nvSpPr>
        <p:spPr>
          <a:xfrm>
            <a:off x="5198305" y="1819962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4821303" y="1818225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190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981977"/>
              </p:ext>
            </p:extLst>
          </p:nvPr>
        </p:nvGraphicFramePr>
        <p:xfrm>
          <a:off x="517451" y="1174895"/>
          <a:ext cx="3160697" cy="528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38922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295001"/>
              </p:ext>
            </p:extLst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rgbClr val="0000FF"/>
                          </a:solidFill>
                        </a:rPr>
                        <a:t>食時。三世諸佛定規，過中一髮，即不得食。今謂食時將到，宜先往乞也。藏律中言食時，其說不一，今且述其一說。丑、寅、卯，為諸天食時，是名初分；（或謂寅、卯、辰，為初分，圭峰纂要依此說。）辰、巳、午，為人間食時，是名中分；未、申、酉，為畜生食時，是名晡分；戌、亥、子，為神鬼食時，是名夜分。蓋謂各道眾生多在此時，或宜於此時就食，非謂一定不移。唯佛法制定過午不食，用意深廣。如律中說。乞食之時，大約在辰時左右，以太早太遲，不能得故。防無所施，致惱他。無所獲，復惱自也。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</a:rPr>
                        <a:t>著衣。佛制三衣。一，安陀會，義為中著衣，襯體所著也，行道（謂修行時。）或作務可用，（校此句舊版作謂修行行道或作務時可用。茲從原稿。）即是五條。名下品衣。二，鬱多羅僧，譯義曰上衣，亦名中品衣，即</a:t>
                      </a:r>
                      <a:endParaRPr lang="en-US" altLang="zh-TW" sz="1600" dirty="0" smtClean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是我聞。一時，佛在舍衛國祇樹給孤獨園，與大比丘眾千二百五十人俱。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『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如來善護念諸菩薩，善付囑諸菩薩。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』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55" name="圖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56" name="圖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57" name="圖片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pic>
        <p:nvPicPr>
          <p:cNvPr id="42" name="圖片 4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pic>
        <p:nvPicPr>
          <p:cNvPr id="50" name="圖片 49"/>
          <p:cNvPicPr>
            <a:picLocks noChangeAspect="1"/>
          </p:cNvPicPr>
          <p:nvPr/>
        </p:nvPicPr>
        <p:blipFill rotWithShape="1">
          <a:blip r:embed="rId7"/>
          <a:srcRect b="5651"/>
          <a:stretch/>
        </p:blipFill>
        <p:spPr>
          <a:xfrm>
            <a:off x="926643" y="1814157"/>
            <a:ext cx="2038350" cy="4322587"/>
          </a:xfrm>
          <a:prstGeom prst="rect">
            <a:avLst/>
          </a:prstGeom>
        </p:spPr>
      </p:pic>
      <p:sp>
        <p:nvSpPr>
          <p:cNvPr id="61" name="矩形 60"/>
          <p:cNvSpPr/>
          <p:nvPr/>
        </p:nvSpPr>
        <p:spPr>
          <a:xfrm>
            <a:off x="1345777" y="4317022"/>
            <a:ext cx="370007" cy="188395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圓角矩形圖說文字 61"/>
          <p:cNvSpPr/>
          <p:nvPr/>
        </p:nvSpPr>
        <p:spPr>
          <a:xfrm>
            <a:off x="312450" y="4292758"/>
            <a:ext cx="355465" cy="1206489"/>
          </a:xfrm>
          <a:prstGeom prst="wedgeRoundRectCallout">
            <a:avLst>
              <a:gd name="adj1" fmla="val 205192"/>
              <a:gd name="adj2" fmla="val -38566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rgbClr val="C00000"/>
                </a:solidFill>
                <a:latin typeface="+mn-ea"/>
              </a:rPr>
              <a:t>2</a:t>
            </a:r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名相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330242" y="1808252"/>
            <a:ext cx="457515" cy="226032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圓角矩形圖說文字 63"/>
          <p:cNvSpPr/>
          <p:nvPr/>
        </p:nvSpPr>
        <p:spPr>
          <a:xfrm>
            <a:off x="4458063" y="2633172"/>
            <a:ext cx="1661820" cy="354854"/>
          </a:xfrm>
          <a:prstGeom prst="wedgeRoundRectCallout">
            <a:avLst>
              <a:gd name="adj1" fmla="val -42792"/>
              <a:gd name="adj2" fmla="val -209040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rgbClr val="C00000"/>
                </a:solidFill>
                <a:latin typeface="+mn-ea"/>
              </a:rPr>
              <a:t>１</a:t>
            </a:r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選取要查詢的部分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cxnSp>
        <p:nvCxnSpPr>
          <p:cNvPr id="65" name="直線單箭頭接點 64"/>
          <p:cNvCxnSpPr>
            <a:stCxn id="63" idx="1"/>
          </p:cNvCxnSpPr>
          <p:nvPr/>
        </p:nvCxnSpPr>
        <p:spPr>
          <a:xfrm flipH="1">
            <a:off x="1715784" y="1921268"/>
            <a:ext cx="2614458" cy="2377547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61" idx="3"/>
          </p:cNvCxnSpPr>
          <p:nvPr/>
        </p:nvCxnSpPr>
        <p:spPr>
          <a:xfrm>
            <a:off x="1715784" y="4411220"/>
            <a:ext cx="2167847" cy="540419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圓角矩形圖說文字 66"/>
          <p:cNvSpPr/>
          <p:nvPr/>
        </p:nvSpPr>
        <p:spPr>
          <a:xfrm>
            <a:off x="2907369" y="2417847"/>
            <a:ext cx="355465" cy="2991729"/>
          </a:xfrm>
          <a:prstGeom prst="wedgeRoundRectCallout">
            <a:avLst>
              <a:gd name="adj1" fmla="val 46223"/>
              <a:gd name="adj2" fmla="val -2492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>
                <a:solidFill>
                  <a:srgbClr val="C00000"/>
                </a:solidFill>
              </a:rPr>
              <a:t>捲軸往下，作科判和經文、註釋的對讀</a:t>
            </a:r>
            <a:endParaRPr lang="zh-TW" altLang="en-US" sz="1100" dirty="0">
              <a:solidFill>
                <a:srgbClr val="C00000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352127" y="5097813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-1" y="0"/>
            <a:ext cx="2054831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字詞釋義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判判</a:t>
            </a:r>
            <a:r>
              <a:rPr lang="en-US" altLang="zh-TW" sz="1400" dirty="0" smtClean="0">
                <a:solidFill>
                  <a:prstClr val="black"/>
                </a:solidFill>
              </a:rPr>
              <a:t>-</a:t>
            </a:r>
            <a:r>
              <a:rPr lang="zh-TW" altLang="en-US" sz="1400" dirty="0" smtClean="0">
                <a:solidFill>
                  <a:prstClr val="black"/>
                </a:solidFill>
              </a:rPr>
              <a:t>名相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106" name="動作按鈕: 下一項 105">
            <a:hlinkClick r:id="" action="ppaction://hlinkshowjump?jump=nextslide" highlightClick="1"/>
          </p:cNvPr>
          <p:cNvSpPr/>
          <p:nvPr/>
        </p:nvSpPr>
        <p:spPr>
          <a:xfrm>
            <a:off x="11255690" y="125632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動作按鈕: 上一項 106">
            <a:hlinkClick r:id="" action="ppaction://hlinkshowjump?jump=previousslide" highlightClick="1"/>
          </p:cNvPr>
          <p:cNvSpPr/>
          <p:nvPr/>
        </p:nvSpPr>
        <p:spPr>
          <a:xfrm>
            <a:off x="11071737" y="125632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動作按鈕: 下一項 107">
            <a:hlinkClick r:id="" action="ppaction://hlinkshowjump?jump=nextslide" highlightClick="1"/>
          </p:cNvPr>
          <p:cNvSpPr/>
          <p:nvPr/>
        </p:nvSpPr>
        <p:spPr>
          <a:xfrm>
            <a:off x="11255690" y="382548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動作按鈕: 上一項 108">
            <a:hlinkClick r:id="" action="ppaction://hlinkshowjump?jump=previousslide" highlightClick="1"/>
          </p:cNvPr>
          <p:cNvSpPr/>
          <p:nvPr/>
        </p:nvSpPr>
        <p:spPr>
          <a:xfrm>
            <a:off x="11071737" y="382548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367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8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53120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3843926" y="3753293"/>
          <a:ext cx="7885177" cy="276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</a:rPr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</a:t>
                      </a:r>
                      <a:r>
                        <a:rPr lang="zh-TW" altLang="en-US" sz="1400" dirty="0" smtClean="0">
                          <a:solidFill>
                            <a:srgbClr val="0000FF"/>
                          </a:solidFill>
                        </a:rPr>
                        <a:t>初曰如是者，不異為如，無非曰是。凡人相信，則曰如是。不信，必曰不如是。今結集者一啟口而鄭重言之曰如是，所以明其言言如佛所說，辭義無謬也，（校也，舊版無。據原稿補。）則足以信今而傳後矣，故曰信成就也。華嚴經曰：信為道元（校元，舊版作源，經及原稿作元。）功德母，長養一切諸善法。信乃入道初門，故列在最初。</a:t>
                      </a:r>
                      <a:endParaRPr lang="en-US" altLang="zh-TW" sz="1400" dirty="0" smtClean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>
            <p:extLst/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是我聞。一時，佛在舍衛國祇樹給孤獨園，與大比丘眾千二百五十人俱。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『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如來善護念諸菩薩，善付囑諸菩薩。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』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55" name="圖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56" name="圖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57" name="圖片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520576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字詞釋義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名相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871712" y="1506154"/>
            <a:ext cx="926319" cy="28853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/>
          </p:nvPr>
        </p:nvGraphicFramePr>
        <p:xfrm>
          <a:off x="808849" y="1749447"/>
          <a:ext cx="2441597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字詞典、百科類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中華佛教百科全書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佛光大辭典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圓角矩形圖說文字 43"/>
          <p:cNvSpPr/>
          <p:nvPr/>
        </p:nvSpPr>
        <p:spPr>
          <a:xfrm>
            <a:off x="6247705" y="88278"/>
            <a:ext cx="1174137" cy="278366"/>
          </a:xfrm>
          <a:prstGeom prst="wedgeRoundRectCallout">
            <a:avLst>
              <a:gd name="adj1" fmla="val -67626"/>
              <a:gd name="adj2" fmla="val 111541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rgbClr val="C00000"/>
                </a:solidFill>
                <a:latin typeface="+mn-ea"/>
              </a:rPr>
              <a:t>１</a:t>
            </a:r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按字詞釋義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pic>
        <p:nvPicPr>
          <p:cNvPr id="42" name="圖片 4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49" name="圓角矩形圖說文字 48"/>
          <p:cNvSpPr/>
          <p:nvPr/>
        </p:nvSpPr>
        <p:spPr>
          <a:xfrm>
            <a:off x="5177459" y="2587009"/>
            <a:ext cx="1657314" cy="423719"/>
          </a:xfrm>
          <a:prstGeom prst="wedgeRoundRectCallout">
            <a:avLst>
              <a:gd name="adj1" fmla="val -38288"/>
              <a:gd name="adj2" fmla="val -16946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363836" y="3534454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0" name="群組 79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81" name="文字方塊 80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82" name="群組 81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95" name="圖片 9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96" name="矩形 95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83" name="群組 82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93" name="圖片 9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94" name="矩形 93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84" name="群組 83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91" name="圖片 90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92" name="矩形 91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85" name="群組 84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89" name="矩形 88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0" name="圖片 89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86" name="群組 85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88" name="圖片 87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97" name="動作按鈕: 下一項 96">
            <a:hlinkClick r:id="" action="ppaction://hlinkshowjump?jump=nextslide" highlightClick="1"/>
          </p:cNvPr>
          <p:cNvSpPr/>
          <p:nvPr/>
        </p:nvSpPr>
        <p:spPr>
          <a:xfrm>
            <a:off x="11255690" y="125632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動作按鈕: 上一項 97">
            <a:hlinkClick r:id="" action="ppaction://hlinkshowjump?jump=previousslide" highlightClick="1"/>
          </p:cNvPr>
          <p:cNvSpPr/>
          <p:nvPr/>
        </p:nvSpPr>
        <p:spPr>
          <a:xfrm>
            <a:off x="11071737" y="125632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動作按鈕: 下一項 98">
            <a:hlinkClick r:id="" action="ppaction://hlinkshowjump?jump=nextslide" highlightClick="1"/>
          </p:cNvPr>
          <p:cNvSpPr/>
          <p:nvPr/>
        </p:nvSpPr>
        <p:spPr>
          <a:xfrm>
            <a:off x="11255690" y="3837204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動作按鈕: 上一項 99">
            <a:hlinkClick r:id="" action="ppaction://hlinkshowjump?jump=previousslide" highlightClick="1"/>
          </p:cNvPr>
          <p:cNvSpPr/>
          <p:nvPr/>
        </p:nvSpPr>
        <p:spPr>
          <a:xfrm>
            <a:off x="11071737" y="3837204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圓角矩形圖說文字 101"/>
          <p:cNvSpPr/>
          <p:nvPr/>
        </p:nvSpPr>
        <p:spPr>
          <a:xfrm>
            <a:off x="317891" y="1650422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２</a:t>
            </a:r>
            <a:r>
              <a:rPr lang="en-US" altLang="zh-TW" sz="1400" dirty="0" smtClean="0">
                <a:solidFill>
                  <a:srgbClr val="C00000"/>
                </a:solidFill>
                <a:latin typeface="+mn-ea"/>
              </a:rPr>
              <a:t> </a:t>
            </a: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grpSp>
        <p:nvGrpSpPr>
          <p:cNvPr id="61" name="群組 60"/>
          <p:cNvGrpSpPr/>
          <p:nvPr/>
        </p:nvGrpSpPr>
        <p:grpSpPr>
          <a:xfrm>
            <a:off x="4698630" y="1788806"/>
            <a:ext cx="2266766" cy="347377"/>
            <a:chOff x="6404624" y="4304873"/>
            <a:chExt cx="2266766" cy="347377"/>
          </a:xfrm>
        </p:grpSpPr>
        <p:sp>
          <p:nvSpPr>
            <p:cNvPr id="62" name="矩形 61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3" name="圖片 6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64" name="圖片 6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65" name="圖片 6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66" name="圖片 6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67" name="圖片 6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68" name="矩形 67"/>
          <p:cNvSpPr/>
          <p:nvPr/>
        </p:nvSpPr>
        <p:spPr>
          <a:xfrm>
            <a:off x="5198305" y="1819962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/>
          <p:cNvCxnSpPr>
            <a:stCxn id="40" idx="2"/>
          </p:cNvCxnSpPr>
          <p:nvPr/>
        </p:nvCxnSpPr>
        <p:spPr>
          <a:xfrm>
            <a:off x="4334872" y="1794691"/>
            <a:ext cx="729503" cy="3845821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26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8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53120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891178"/>
              </p:ext>
            </p:extLst>
          </p:nvPr>
        </p:nvGraphicFramePr>
        <p:xfrm>
          <a:off x="3842534" y="1193945"/>
          <a:ext cx="7885177" cy="1684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5237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4103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是我聞。一時，佛在舍衛國祇樹給孤獨園，與大比丘眾千二百五十人俱。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『</a:t>
                      </a:r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如來善護念諸菩薩，善付囑諸菩薩。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』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14439" y="2611784"/>
            <a:ext cx="236641" cy="224809"/>
          </a:xfrm>
          <a:prstGeom prst="rect">
            <a:avLst/>
          </a:prstGeom>
        </p:spPr>
      </p:pic>
      <p:pic>
        <p:nvPicPr>
          <p:cNvPr id="57" name="圖片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520576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字詞釋義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名相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871712" y="1506154"/>
            <a:ext cx="926319" cy="28853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869139"/>
              </p:ext>
            </p:extLst>
          </p:nvPr>
        </p:nvGraphicFramePr>
        <p:xfrm>
          <a:off x="808849" y="1749447"/>
          <a:ext cx="244159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字詞典、百科類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佛光大辭典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2" name="圖片 4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3363836" y="3534454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0" name="群組 79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81" name="文字方塊 80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82" name="群組 81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95" name="圖片 9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96" name="矩形 95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83" name="群組 82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93" name="圖片 9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94" name="矩形 93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84" name="群組 83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91" name="圖片 90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92" name="矩形 91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85" name="群組 84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89" name="矩形 88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0" name="圖片 89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86" name="群組 85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88" name="圖片 87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97" name="動作按鈕: 下一項 96">
            <a:hlinkClick r:id="" action="ppaction://hlinkshowjump?jump=nextslide" highlightClick="1"/>
          </p:cNvPr>
          <p:cNvSpPr/>
          <p:nvPr/>
        </p:nvSpPr>
        <p:spPr>
          <a:xfrm>
            <a:off x="11255690" y="125632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動作按鈕: 上一項 97">
            <a:hlinkClick r:id="" action="ppaction://hlinkshowjump?jump=previousslide" highlightClick="1"/>
          </p:cNvPr>
          <p:cNvSpPr/>
          <p:nvPr/>
        </p:nvSpPr>
        <p:spPr>
          <a:xfrm>
            <a:off x="11071737" y="125632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216333"/>
              </p:ext>
            </p:extLst>
          </p:nvPr>
        </p:nvGraphicFramePr>
        <p:xfrm>
          <a:off x="3871712" y="2973561"/>
          <a:ext cx="785995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446"/>
                <a:gridCol w="361507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 smtClean="0"/>
                        <a:t>如是，指這部經。我，是結集者自稱。聞，是從佛陀親聞，或佛弟子間展轉傳聞。結集者說：佛如此說，我如此聽；現在就我所聽來的又如此誦出，真實不虛，一一契合於佛說。依智論說：如是，表信：信得過的就說如是，信不過的就說不如是。佛法甚深，「信為能入」，如沒有真誠善意的信心，即不能虛心領會。如是又表智慧：有智者能如佛所說，不違真義，即可止息戲論與諍競。修學佛法，以信智為根本：無信如無手，不能探取佛法寶藏；無智如無目，不能明達佛法深義。經文首舉如是，即表示唯有信智具足，才能深入佛法，得大利益。 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0" name="圖片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9962" y="4327210"/>
            <a:ext cx="236641" cy="224809"/>
          </a:xfrm>
          <a:prstGeom prst="rect">
            <a:avLst/>
          </a:prstGeom>
        </p:spPr>
      </p:pic>
      <p:pic>
        <p:nvPicPr>
          <p:cNvPr id="73" name="圖片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9265" y="3007646"/>
            <a:ext cx="161103" cy="176446"/>
          </a:xfrm>
          <a:prstGeom prst="rect">
            <a:avLst/>
          </a:prstGeom>
        </p:spPr>
      </p:pic>
      <p:sp>
        <p:nvSpPr>
          <p:cNvPr id="74" name="動作按鈕: 下一項 73">
            <a:hlinkClick r:id="" action="ppaction://hlinkshowjump?jump=nextslide" highlightClick="1"/>
          </p:cNvPr>
          <p:cNvSpPr/>
          <p:nvPr/>
        </p:nvSpPr>
        <p:spPr>
          <a:xfrm>
            <a:off x="11166297" y="3007646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動作按鈕: 上一項 74">
            <a:hlinkClick r:id="" action="ppaction://hlinkshowjump?jump=previousslide" highlightClick="1"/>
          </p:cNvPr>
          <p:cNvSpPr/>
          <p:nvPr/>
        </p:nvSpPr>
        <p:spPr>
          <a:xfrm>
            <a:off x="10982344" y="3007646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4" name="表格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087255"/>
              </p:ext>
            </p:extLst>
          </p:nvPr>
        </p:nvGraphicFramePr>
        <p:xfrm>
          <a:off x="3871712" y="4780756"/>
          <a:ext cx="781346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3228"/>
                <a:gridCol w="340241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佛光大辭典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 smtClean="0"/>
                        <a:t>梵語</a:t>
                      </a:r>
                      <a:r>
                        <a:rPr lang="en-US" altLang="zh-TW" sz="1400" dirty="0" err="1" smtClean="0"/>
                        <a:t>evam</a:t>
                      </a:r>
                      <a:r>
                        <a:rPr lang="en-US" altLang="zh-TW" sz="1400" dirty="0" smtClean="0"/>
                        <a:t>! </a:t>
                      </a:r>
                      <a:r>
                        <a:rPr lang="en-US" altLang="zh-TW" sz="1400" dirty="0" err="1" smtClean="0"/>
                        <a:t>maya^s</a:t>
                      </a:r>
                      <a:r>
                        <a:rPr lang="en-US" altLang="zh-TW" sz="1400" dirty="0" smtClean="0"/>
                        <a:t>/</a:t>
                      </a:r>
                      <a:r>
                        <a:rPr lang="en-US" altLang="zh-TW" sz="1400" dirty="0" err="1" smtClean="0"/>
                        <a:t>rutam</a:t>
                      </a:r>
                      <a:r>
                        <a:rPr lang="en-US" altLang="zh-TW" sz="1400" dirty="0" smtClean="0"/>
                        <a:t>!</a:t>
                      </a:r>
                      <a:r>
                        <a:rPr lang="zh-TW" altLang="en-US" sz="1400" dirty="0" smtClean="0"/>
                        <a:t>，巴利語</a:t>
                      </a:r>
                      <a:r>
                        <a:rPr lang="en-US" altLang="zh-TW" sz="1400" dirty="0" err="1" smtClean="0"/>
                        <a:t>evam</a:t>
                      </a:r>
                      <a:r>
                        <a:rPr lang="en-US" altLang="zh-TW" sz="1400" dirty="0" smtClean="0"/>
                        <a:t>! me </a:t>
                      </a:r>
                      <a:r>
                        <a:rPr lang="en-US" altLang="zh-TW" sz="1400" dirty="0" err="1" smtClean="0"/>
                        <a:t>sutam</a:t>
                      </a:r>
                      <a:r>
                        <a:rPr lang="en-US" altLang="zh-TW" sz="1400" dirty="0" smtClean="0"/>
                        <a:t>!</a:t>
                      </a:r>
                      <a:r>
                        <a:rPr lang="zh-TW" altLang="en-US" sz="1400" dirty="0" smtClean="0"/>
                        <a:t>。又作我聞如是、聞如是。為經典之開頭語。釋尊于入滅之際，曾對多聞第一之阿難（梵</a:t>
                      </a:r>
                      <a:r>
                        <a:rPr lang="en-US" altLang="zh-TW" sz="1400" dirty="0" err="1" smtClean="0"/>
                        <a:t>A^nanda</a:t>
                      </a:r>
                      <a:r>
                        <a:rPr lang="en-US" altLang="zh-TW" sz="1400" dirty="0" smtClean="0"/>
                        <a:t> </a:t>
                      </a:r>
                      <a:r>
                        <a:rPr lang="zh-TW" altLang="en-US" sz="1400" dirty="0" smtClean="0"/>
                        <a:t>）言其一生所說之經藏，須于卷首加上‘如是我聞’一語，以與外道之經典區別。如是，系指經中所敘述之釋尊之言行舉止；我聞，則指經藏編集者阿難自言聽聞于釋尊之言行。又‘如是’意為信順自己所聞之法；‘我聞’則為堅持其信之人。此即信成就、聞成就，又作證信序。</a:t>
                      </a:r>
                      <a:r>
                        <a:rPr lang="en-US" altLang="zh-TW" sz="1400" dirty="0" smtClean="0"/>
                        <a:t>﹝</a:t>
                      </a:r>
                      <a:r>
                        <a:rPr lang="zh-TW" altLang="en-US" sz="1400" dirty="0" smtClean="0"/>
                        <a:t>大智度論卷一、卷二、佛地經論卷一、法華文句卷一上、注維摩詰經卷一、華嚴經探玄記卷二</a:t>
                      </a:r>
                      <a:r>
                        <a:rPr lang="en-US" altLang="zh-TW" sz="1400" dirty="0" smtClean="0"/>
                        <a:t>﹞</a:t>
                      </a:r>
                      <a:r>
                        <a:rPr lang="zh-TW" altLang="en-US" sz="1400" dirty="0" smtClean="0"/>
                        <a:t>（參閱‘六成就’</a:t>
                      </a:r>
                      <a:r>
                        <a:rPr lang="en-US" altLang="zh-TW" sz="1400" dirty="0" smtClean="0"/>
                        <a:t>1266</a:t>
                      </a:r>
                      <a:r>
                        <a:rPr lang="zh-TW" altLang="en-US" sz="1400" dirty="0" smtClean="0"/>
                        <a:t>）</a:t>
                      </a:r>
                      <a:endParaRPr lang="en-US" altLang="zh-TW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5" name="圖片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984" y="6111645"/>
            <a:ext cx="236641" cy="224809"/>
          </a:xfrm>
          <a:prstGeom prst="rect">
            <a:avLst/>
          </a:prstGeom>
        </p:spPr>
      </p:pic>
      <p:pic>
        <p:nvPicPr>
          <p:cNvPr id="106" name="圖片 1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4333" y="4834205"/>
            <a:ext cx="161103" cy="176446"/>
          </a:xfrm>
          <a:prstGeom prst="rect">
            <a:avLst/>
          </a:prstGeom>
        </p:spPr>
      </p:pic>
      <p:sp>
        <p:nvSpPr>
          <p:cNvPr id="107" name="動作按鈕: 下一項 106">
            <a:hlinkClick r:id="" action="ppaction://hlinkshowjump?jump=nextslide" highlightClick="1"/>
          </p:cNvPr>
          <p:cNvSpPr/>
          <p:nvPr/>
        </p:nvSpPr>
        <p:spPr>
          <a:xfrm>
            <a:off x="11160439" y="4834012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動作按鈕: 上一項 107">
            <a:hlinkClick r:id="" action="ppaction://hlinkshowjump?jump=previousslide" highlightClick="1"/>
          </p:cNvPr>
          <p:cNvSpPr/>
          <p:nvPr/>
        </p:nvSpPr>
        <p:spPr>
          <a:xfrm>
            <a:off x="10976486" y="4834012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0" name="圖片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45" y="3328991"/>
            <a:ext cx="236641" cy="224809"/>
          </a:xfrm>
          <a:prstGeom prst="rect">
            <a:avLst/>
          </a:prstGeom>
        </p:spPr>
      </p:pic>
      <p:pic>
        <p:nvPicPr>
          <p:cNvPr id="112" name="圖片 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419" y="5136393"/>
            <a:ext cx="236641" cy="224809"/>
          </a:xfrm>
          <a:prstGeom prst="rect">
            <a:avLst/>
          </a:prstGeom>
        </p:spPr>
      </p:pic>
      <p:sp>
        <p:nvSpPr>
          <p:cNvPr id="113" name="圓角矩形圖說文字 112"/>
          <p:cNvSpPr/>
          <p:nvPr/>
        </p:nvSpPr>
        <p:spPr>
          <a:xfrm>
            <a:off x="317891" y="1650422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08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349703"/>
              </p:ext>
            </p:extLst>
          </p:nvPr>
        </p:nvGraphicFramePr>
        <p:xfrm>
          <a:off x="517451" y="1174895"/>
          <a:ext cx="3160697" cy="5186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777223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437153"/>
              </p:ext>
            </p:extLst>
          </p:nvPr>
        </p:nvGraphicFramePr>
        <p:xfrm>
          <a:off x="721054" y="2009050"/>
          <a:ext cx="2441597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394008"/>
              </p:ext>
            </p:extLst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如是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3" name="圓角矩形圖說文字 52"/>
          <p:cNvSpPr/>
          <p:nvPr/>
        </p:nvSpPr>
        <p:spPr>
          <a:xfrm>
            <a:off x="2445249" y="140510"/>
            <a:ext cx="3035432" cy="374744"/>
          </a:xfrm>
          <a:prstGeom prst="wedgeRoundRectCallout">
            <a:avLst>
              <a:gd name="adj1" fmla="val -51897"/>
              <a:gd name="adj2" fmla="val 242174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１找金剛經中所有“如是”的解釋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330331" y="3446214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356965"/>
              </p:ext>
            </p:extLst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rgbClr val="0000FF"/>
                          </a:solidFill>
                        </a:rPr>
                        <a:t>如是，指上句令入無餘涅槃。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</a:rPr>
                        <a:t>無量者，謂種類不限量，無論根性勝劣皆度之。無數者，謂多寡不計數。然或只度一世界，一世界一劫十劫，亦可謂無量無數矣。而今不然，乃無有邊。無邊者，橫遍十方，豎窮三際也。故無邊是總，無量無數是別。因其滅度無邊，乃得為無量無數也。</a:t>
                      </a: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83101"/>
              </p:ext>
            </p:extLst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世尊！如來善護念諸菩薩，善付囑諸菩薩。世尊！善男子、善女人，發阿耨多羅三藐三菩提心，應云何住？云何降伏其心？」佛言：「善哉，善哉！須菩提！如汝所說：『如來善護念諸菩薩，善付囑諸菩薩。』汝今諦聽，當為汝說。善男子、善女人，發阿耨多羅三藐三菩提心，應如是住，如是降伏其心。」「唯然。世尊！願樂欲聞。」佛告須菩提：「諸菩薩摩訶薩應如是降伏其心：『所有一切</a:t>
                      </a:r>
                      <a:r>
                        <a:rPr lang="zh-TW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眾生之類，若卵生、若胎生、若濕生、若化生，若有色、若無色，若有想、若無想、若非有想非無想，我皆令入無餘涅槃而滅度之。』</a:t>
                      </a:r>
                      <a:r>
                        <a:rPr lang="zh-TW" altLang="zh-TW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如是滅度無量無數無邊眾生</a:t>
                      </a:r>
                      <a:r>
                        <a:rPr lang="zh-TW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實無眾生得滅度者。何以故？須菩提！若菩薩有我相、人相、眾生相、壽者相，即非菩薩。」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』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7" name="圖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60" name="圖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61" name="圖片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sp>
        <p:nvSpPr>
          <p:cNvPr id="68" name="矩形 67"/>
          <p:cNvSpPr/>
          <p:nvPr/>
        </p:nvSpPr>
        <p:spPr>
          <a:xfrm>
            <a:off x="-1" y="0"/>
            <a:ext cx="2294306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字詞釋義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全經某類名相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110" name="動作按鈕: 下一項 109">
            <a:hlinkClick r:id="" action="ppaction://hlinkshowjump?jump=nextslide" highlightClick="1"/>
          </p:cNvPr>
          <p:cNvSpPr/>
          <p:nvPr/>
        </p:nvSpPr>
        <p:spPr>
          <a:xfrm>
            <a:off x="11255690" y="124605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動作按鈕: 上一項 110">
            <a:hlinkClick r:id="" action="ppaction://hlinkshowjump?jump=previousslide" highlightClick="1"/>
          </p:cNvPr>
          <p:cNvSpPr/>
          <p:nvPr/>
        </p:nvSpPr>
        <p:spPr>
          <a:xfrm>
            <a:off x="11071737" y="124605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動作按鈕: 下一項 111">
            <a:hlinkClick r:id="" action="ppaction://hlinkshowjump?jump=nextslide" highlightClick="1"/>
          </p:cNvPr>
          <p:cNvSpPr/>
          <p:nvPr/>
        </p:nvSpPr>
        <p:spPr>
          <a:xfrm>
            <a:off x="11212027" y="382548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動作按鈕: 上一項 112">
            <a:hlinkClick r:id="" action="ppaction://hlinkshowjump?jump=previousslide" highlightClick="1"/>
          </p:cNvPr>
          <p:cNvSpPr/>
          <p:nvPr/>
        </p:nvSpPr>
        <p:spPr>
          <a:xfrm>
            <a:off x="11028074" y="382548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圓角矩形圖說文字 113"/>
          <p:cNvSpPr/>
          <p:nvPr/>
        </p:nvSpPr>
        <p:spPr>
          <a:xfrm>
            <a:off x="317891" y="1650422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２</a:t>
            </a:r>
            <a:r>
              <a:rPr lang="en-US" altLang="zh-TW" sz="1400" dirty="0" smtClean="0">
                <a:solidFill>
                  <a:srgbClr val="C00000"/>
                </a:solidFill>
                <a:latin typeface="+mn-ea"/>
              </a:rPr>
              <a:t> </a:t>
            </a: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6975850" y="2295536"/>
            <a:ext cx="400882" cy="26721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668" y="3620444"/>
            <a:ext cx="2447925" cy="1190625"/>
          </a:xfrm>
          <a:prstGeom prst="rect">
            <a:avLst/>
          </a:prstGeom>
        </p:spPr>
      </p:pic>
      <p:sp>
        <p:nvSpPr>
          <p:cNvPr id="116" name="圓角矩形圖說文字 115"/>
          <p:cNvSpPr/>
          <p:nvPr/>
        </p:nvSpPr>
        <p:spPr>
          <a:xfrm>
            <a:off x="261884" y="4519627"/>
            <a:ext cx="331335" cy="796748"/>
          </a:xfrm>
          <a:prstGeom prst="wedgeRoundRectCallout">
            <a:avLst>
              <a:gd name="adj1" fmla="val 205192"/>
              <a:gd name="adj2" fmla="val -38566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３點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130621" y="4514991"/>
            <a:ext cx="1859760" cy="213601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矩形 117"/>
          <p:cNvSpPr/>
          <p:nvPr/>
        </p:nvSpPr>
        <p:spPr>
          <a:xfrm>
            <a:off x="7280395" y="2999918"/>
            <a:ext cx="500788" cy="26721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0" name="直線單箭頭接點 119"/>
          <p:cNvCxnSpPr/>
          <p:nvPr/>
        </p:nvCxnSpPr>
        <p:spPr>
          <a:xfrm flipH="1">
            <a:off x="6496195" y="3620444"/>
            <a:ext cx="1427403" cy="573629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7633199" y="2515924"/>
            <a:ext cx="425386" cy="26721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4" name="直線單箭頭接點 63"/>
          <p:cNvCxnSpPr>
            <a:stCxn id="117" idx="3"/>
            <a:endCxn id="66" idx="1"/>
          </p:cNvCxnSpPr>
          <p:nvPr/>
        </p:nvCxnSpPr>
        <p:spPr>
          <a:xfrm flipV="1">
            <a:off x="2990381" y="3446756"/>
            <a:ext cx="4372417" cy="1175036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群組 64"/>
          <p:cNvGrpSpPr/>
          <p:nvPr/>
        </p:nvGrpSpPr>
        <p:grpSpPr>
          <a:xfrm>
            <a:off x="7362798" y="3273067"/>
            <a:ext cx="2266766" cy="347377"/>
            <a:chOff x="6404624" y="4304873"/>
            <a:chExt cx="2266766" cy="347377"/>
          </a:xfrm>
        </p:grpSpPr>
        <p:sp>
          <p:nvSpPr>
            <p:cNvPr id="66" name="矩形 65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7" name="圖片 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69" name="圖片 6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70" name="圖片 6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71" name="圖片 7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73" name="圖片 7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75" name="矩形 74"/>
          <p:cNvSpPr/>
          <p:nvPr/>
        </p:nvSpPr>
        <p:spPr>
          <a:xfrm>
            <a:off x="7858387" y="3310895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/>
        </p:nvSpPr>
        <p:spPr>
          <a:xfrm>
            <a:off x="7781182" y="2255190"/>
            <a:ext cx="400882" cy="26721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/>
        </p:nvSpPr>
        <p:spPr>
          <a:xfrm>
            <a:off x="7455685" y="3281652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77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22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8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953120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graphicFrame>
        <p:nvGraphicFramePr>
          <p:cNvPr id="46" name="表格 45"/>
          <p:cNvGraphicFramePr>
            <a:graphicFrameLocks noGrp="1"/>
          </p:cNvGraphicFramePr>
          <p:nvPr>
            <p:extLst/>
          </p:nvPr>
        </p:nvGraphicFramePr>
        <p:xfrm>
          <a:off x="721054" y="2009050"/>
          <a:ext cx="2441597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如是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0331" y="3446214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/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rgbClr val="0000FF"/>
                          </a:solidFill>
                        </a:rPr>
                        <a:t>如是，指上句令入無餘涅槃。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</a:rPr>
                        <a:t>無量者，謂種類不限量，無論根性勝劣皆度之。無數者，謂多寡不計數。然或只度一世界，一世界一劫十劫，亦可謂無量無數矣。而今不然，乃無有邊。無邊者，橫遍十方，豎窮三際也。故無邊是總，無量無數是別。因其滅度無邊，乃得為無量無數也。</a:t>
                      </a: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015768"/>
              </p:ext>
            </p:extLst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世尊！如來善護念諸菩薩，善付囑諸菩薩。世尊！善男子、善女人，發阿耨多羅三藐三菩提心，應云何住？云何降伏其心？」佛言：「善哉，善哉！須菩提！如汝所說：『如來善護念諸菩薩，善付囑諸菩薩。』汝今諦聽，當為汝說。善男子、善女人，發阿耨多羅三藐三菩提心，應如是住，如是降伏其心。」「唯然。世尊！願樂欲聞。」佛告須菩提：「諸菩薩摩訶薩應如是降伏其心：</a:t>
                      </a:r>
                      <a:r>
                        <a:rPr lang="zh-TW" altLang="zh-TW" sz="1600" b="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『所有一切</a:t>
                      </a:r>
                      <a:r>
                        <a:rPr lang="zh-TW" altLang="zh-TW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眾生之類，若卵生、若胎生、若濕生、若化生，若有色、若無色，若有想、若無想、若非有想非無想，我皆令入無餘涅槃而滅度之。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』</a:t>
                      </a:r>
                      <a:r>
                        <a:rPr lang="zh-TW" altLang="zh-TW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如是滅度無量無數無邊眾生</a:t>
                      </a:r>
                      <a:r>
                        <a:rPr lang="zh-TW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實無眾生得滅度者。何以故？須菩提！若菩薩有我相、人相、眾生相、壽者相，即非菩薩。」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』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7" name="圖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60" name="圖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61" name="圖片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sp>
        <p:nvSpPr>
          <p:cNvPr id="68" name="矩形 67"/>
          <p:cNvSpPr/>
          <p:nvPr/>
        </p:nvSpPr>
        <p:spPr>
          <a:xfrm>
            <a:off x="-1" y="0"/>
            <a:ext cx="945223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情境指涉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cxnSp>
        <p:nvCxnSpPr>
          <p:cNvPr id="25" name="直線單箭頭接點 24"/>
          <p:cNvCxnSpPr/>
          <p:nvPr/>
        </p:nvCxnSpPr>
        <p:spPr>
          <a:xfrm flipH="1" flipV="1">
            <a:off x="6240751" y="3277545"/>
            <a:ext cx="396127" cy="123688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7341533" y="3010328"/>
            <a:ext cx="428728" cy="26721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動作按鈕: 下一項 109">
            <a:hlinkClick r:id="" action="ppaction://hlinkshowjump?jump=nextslide" highlightClick="1"/>
          </p:cNvPr>
          <p:cNvSpPr/>
          <p:nvPr/>
        </p:nvSpPr>
        <p:spPr>
          <a:xfrm>
            <a:off x="11255690" y="124605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動作按鈕: 上一項 110">
            <a:hlinkClick r:id="" action="ppaction://hlinkshowjump?jump=previousslide" highlightClick="1"/>
          </p:cNvPr>
          <p:cNvSpPr/>
          <p:nvPr/>
        </p:nvSpPr>
        <p:spPr>
          <a:xfrm>
            <a:off x="11071737" y="124605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動作按鈕: 下一項 111">
            <a:hlinkClick r:id="" action="ppaction://hlinkshowjump?jump=nextslide" highlightClick="1"/>
          </p:cNvPr>
          <p:cNvSpPr/>
          <p:nvPr/>
        </p:nvSpPr>
        <p:spPr>
          <a:xfrm>
            <a:off x="11212027" y="382548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動作按鈕: 上一項 112">
            <a:hlinkClick r:id="" action="ppaction://hlinkshowjump?jump=previousslide" highlightClick="1"/>
          </p:cNvPr>
          <p:cNvSpPr/>
          <p:nvPr/>
        </p:nvSpPr>
        <p:spPr>
          <a:xfrm>
            <a:off x="11028074" y="382548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905" y="3885722"/>
            <a:ext cx="2447925" cy="1190625"/>
          </a:xfrm>
          <a:prstGeom prst="rect">
            <a:avLst/>
          </a:prstGeom>
        </p:spPr>
      </p:pic>
      <p:sp>
        <p:nvSpPr>
          <p:cNvPr id="117" name="矩形 116"/>
          <p:cNvSpPr/>
          <p:nvPr/>
        </p:nvSpPr>
        <p:spPr>
          <a:xfrm>
            <a:off x="1035900" y="4758439"/>
            <a:ext cx="1859760" cy="213601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9" name="群組 68"/>
          <p:cNvGrpSpPr/>
          <p:nvPr/>
        </p:nvGrpSpPr>
        <p:grpSpPr>
          <a:xfrm>
            <a:off x="5107368" y="4417596"/>
            <a:ext cx="2266766" cy="347377"/>
            <a:chOff x="6404624" y="4304873"/>
            <a:chExt cx="2266766" cy="347377"/>
          </a:xfrm>
        </p:grpSpPr>
        <p:sp>
          <p:nvSpPr>
            <p:cNvPr id="70" name="矩形 69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71" name="圖片 7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73" name="圖片 7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74" name="圖片 7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75" name="圖片 7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76" name="圖片 7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77" name="矩形 76"/>
          <p:cNvSpPr/>
          <p:nvPr/>
        </p:nvSpPr>
        <p:spPr>
          <a:xfrm>
            <a:off x="6526983" y="4469902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圓角矩形圖說文字 57"/>
          <p:cNvSpPr/>
          <p:nvPr/>
        </p:nvSpPr>
        <p:spPr>
          <a:xfrm>
            <a:off x="6479950" y="5247751"/>
            <a:ext cx="1657314" cy="423719"/>
          </a:xfrm>
          <a:prstGeom prst="wedgeRoundRectCallout">
            <a:avLst>
              <a:gd name="adj1" fmla="val -38288"/>
              <a:gd name="adj2" fmla="val -16946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8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23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186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777223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graphicFrame>
        <p:nvGraphicFramePr>
          <p:cNvPr id="46" name="表格 45"/>
          <p:cNvGraphicFramePr>
            <a:graphicFrameLocks noGrp="1"/>
          </p:cNvGraphicFramePr>
          <p:nvPr>
            <p:extLst/>
          </p:nvPr>
        </p:nvGraphicFramePr>
        <p:xfrm>
          <a:off x="721054" y="2009050"/>
          <a:ext cx="2441597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如是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0331" y="3446214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/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</a:rPr>
                        <a:t>舊說如是二字，即指下文滅度一切眾生一段文而言，如此則前後脈絡不貫，況下文本有應如是降伏其心一句耶。又說如是二字，指發起序中世尊著衣持鉢至敷座而坐一段文而言，似亦未確。今謂如是二字，剋指上文善護念、善付囑二句而來。有現前指點，當下即是之義。著衣持鉢一段文是遠脈 ，善護念二句是近脈，既知近脈，則遠脈自通。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/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佛在舍衛國祇樹給孤獨園，與大比丘眾千二百五十人俱。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『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如來善護念諸菩薩，善付囑諸菩薩。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』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汝今諦聽，當為汝說。善男子、善女人，發阿耨多羅三藐三菩提心，應如是住，如是降伏其心。」「唯然。世尊！願樂欲聞。」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7" name="圖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60" name="圖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61" name="圖片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sp>
        <p:nvSpPr>
          <p:cNvPr id="68" name="矩形 67"/>
          <p:cNvSpPr/>
          <p:nvPr/>
        </p:nvSpPr>
        <p:spPr>
          <a:xfrm>
            <a:off x="-1" y="0"/>
            <a:ext cx="2294306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字詞釋義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全經某類名相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110" name="動作按鈕: 下一項 109">
            <a:hlinkClick r:id="" action="ppaction://hlinkshowjump?jump=nextslide" highlightClick="1"/>
          </p:cNvPr>
          <p:cNvSpPr/>
          <p:nvPr/>
        </p:nvSpPr>
        <p:spPr>
          <a:xfrm>
            <a:off x="11255690" y="124605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動作按鈕: 上一項 110">
            <a:hlinkClick r:id="" action="ppaction://hlinkshowjump?jump=previousslide" highlightClick="1"/>
          </p:cNvPr>
          <p:cNvSpPr/>
          <p:nvPr/>
        </p:nvSpPr>
        <p:spPr>
          <a:xfrm>
            <a:off x="11071737" y="124605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動作按鈕: 下一項 111">
            <a:hlinkClick r:id="" action="ppaction://hlinkshowjump?jump=nextslide" highlightClick="1"/>
          </p:cNvPr>
          <p:cNvSpPr/>
          <p:nvPr/>
        </p:nvSpPr>
        <p:spPr>
          <a:xfrm>
            <a:off x="11212027" y="382548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動作按鈕: 上一項 112">
            <a:hlinkClick r:id="" action="ppaction://hlinkshowjump?jump=previousslide" highlightClick="1"/>
          </p:cNvPr>
          <p:cNvSpPr/>
          <p:nvPr/>
        </p:nvSpPr>
        <p:spPr>
          <a:xfrm>
            <a:off x="11028074" y="382548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668" y="3620444"/>
            <a:ext cx="2447925" cy="1190625"/>
          </a:xfrm>
          <a:prstGeom prst="rect">
            <a:avLst/>
          </a:prstGeom>
        </p:spPr>
      </p:pic>
      <p:sp>
        <p:nvSpPr>
          <p:cNvPr id="117" name="矩形 116"/>
          <p:cNvSpPr/>
          <p:nvPr/>
        </p:nvSpPr>
        <p:spPr>
          <a:xfrm>
            <a:off x="1130621" y="4079610"/>
            <a:ext cx="1859760" cy="213601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10007028" y="3041152"/>
            <a:ext cx="1379213" cy="228166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/>
        </p:nvSpPr>
        <p:spPr>
          <a:xfrm>
            <a:off x="3859700" y="3269318"/>
            <a:ext cx="1379213" cy="228166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33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24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186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777223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graphicFrame>
        <p:nvGraphicFramePr>
          <p:cNvPr id="46" name="表格 45"/>
          <p:cNvGraphicFramePr>
            <a:graphicFrameLocks noGrp="1"/>
          </p:cNvGraphicFramePr>
          <p:nvPr>
            <p:extLst/>
          </p:nvPr>
        </p:nvGraphicFramePr>
        <p:xfrm>
          <a:off x="721054" y="2009050"/>
          <a:ext cx="2441597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如是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0331" y="3446214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65877"/>
              </p:ext>
            </p:extLst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</a:rPr>
                        <a:t>舊說如是二字，即指下文滅度一切眾生一段文而言，如此則前後脈絡不貫，況下文本有應如是降伏其心一句耶。又說如是二字，指發起序中世尊著衣持鉢至敷座而坐一段文而言，似亦未確。今謂如是二字，剋指上文善護念、善付囑二句而來。有現前指點，當下即是之義。著衣持鉢一段文是遠脈 ，善護念二句是近脈，既知近脈，則遠脈自通。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75782"/>
              </p:ext>
            </p:extLst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如是我聞。一時，佛在舍衛國祇樹給孤獨園，與大比丘眾千二百五十人俱。</a:t>
                      </a:r>
                      <a:r>
                        <a:rPr lang="zh-TW" altLang="en-US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爾時，世尊食時，著衣持鉢，入舍衛大城乞食。於其城中，次第乞已，還至本處。飯食訖，收衣鉢，洗足已，敷座而坐。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『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如來善護念諸菩薩，善付囑諸菩薩。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』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汝今諦聽，當為汝說。善男子、善女人，發阿耨多羅三藐三菩提心，</a:t>
                      </a: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應如是住，如是降伏其心。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」「唯然。世尊！願樂欲聞。」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7" name="圖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60" name="圖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61" name="圖片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sp>
        <p:nvSpPr>
          <p:cNvPr id="68" name="矩形 67"/>
          <p:cNvSpPr/>
          <p:nvPr/>
        </p:nvSpPr>
        <p:spPr>
          <a:xfrm>
            <a:off x="-1" y="0"/>
            <a:ext cx="2294306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字詞釋義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全經某類名相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110" name="動作按鈕: 下一項 109">
            <a:hlinkClick r:id="" action="ppaction://hlinkshowjump?jump=nextslide" highlightClick="1"/>
          </p:cNvPr>
          <p:cNvSpPr/>
          <p:nvPr/>
        </p:nvSpPr>
        <p:spPr>
          <a:xfrm>
            <a:off x="11255690" y="124605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動作按鈕: 上一項 110">
            <a:hlinkClick r:id="" action="ppaction://hlinkshowjump?jump=previousslide" highlightClick="1"/>
          </p:cNvPr>
          <p:cNvSpPr/>
          <p:nvPr/>
        </p:nvSpPr>
        <p:spPr>
          <a:xfrm>
            <a:off x="11071737" y="124605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動作按鈕: 下一項 111">
            <a:hlinkClick r:id="" action="ppaction://hlinkshowjump?jump=nextslide" highlightClick="1"/>
          </p:cNvPr>
          <p:cNvSpPr/>
          <p:nvPr/>
        </p:nvSpPr>
        <p:spPr>
          <a:xfrm>
            <a:off x="11212027" y="382548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動作按鈕: 上一項 112">
            <a:hlinkClick r:id="" action="ppaction://hlinkshowjump?jump=previousslide" highlightClick="1"/>
          </p:cNvPr>
          <p:cNvSpPr/>
          <p:nvPr/>
        </p:nvSpPr>
        <p:spPr>
          <a:xfrm>
            <a:off x="11028074" y="382548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668" y="3620444"/>
            <a:ext cx="2447925" cy="1190625"/>
          </a:xfrm>
          <a:prstGeom prst="rect">
            <a:avLst/>
          </a:prstGeom>
        </p:spPr>
      </p:pic>
      <p:sp>
        <p:nvSpPr>
          <p:cNvPr id="117" name="矩形 116"/>
          <p:cNvSpPr/>
          <p:nvPr/>
        </p:nvSpPr>
        <p:spPr>
          <a:xfrm>
            <a:off x="1130621" y="4079610"/>
            <a:ext cx="1859760" cy="213601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5" name="群組 64"/>
          <p:cNvGrpSpPr/>
          <p:nvPr/>
        </p:nvGrpSpPr>
        <p:grpSpPr>
          <a:xfrm>
            <a:off x="7792434" y="5103454"/>
            <a:ext cx="2266766" cy="347377"/>
            <a:chOff x="6404624" y="4304873"/>
            <a:chExt cx="2266766" cy="347377"/>
          </a:xfrm>
        </p:grpSpPr>
        <p:sp>
          <p:nvSpPr>
            <p:cNvPr id="66" name="矩形 65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7" name="圖片 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69" name="圖片 6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70" name="圖片 6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71" name="圖片 7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73" name="圖片 7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75" name="矩形 74"/>
          <p:cNvSpPr/>
          <p:nvPr/>
        </p:nvSpPr>
        <p:spPr>
          <a:xfrm>
            <a:off x="9217975" y="5150968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/>
        </p:nvSpPr>
        <p:spPr>
          <a:xfrm>
            <a:off x="7792434" y="4911047"/>
            <a:ext cx="467758" cy="19240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單箭頭接點 2"/>
          <p:cNvCxnSpPr/>
          <p:nvPr/>
        </p:nvCxnSpPr>
        <p:spPr>
          <a:xfrm flipH="1" flipV="1">
            <a:off x="8559060" y="2037039"/>
            <a:ext cx="737340" cy="3063674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10253609" y="3045777"/>
            <a:ext cx="431516" cy="223541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>
            <a:off x="10407721" y="3269318"/>
            <a:ext cx="30823" cy="732617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>
            <a:stCxn id="78" idx="1"/>
            <a:endCxn id="117" idx="3"/>
          </p:cNvCxnSpPr>
          <p:nvPr/>
        </p:nvCxnSpPr>
        <p:spPr>
          <a:xfrm flipH="1">
            <a:off x="2990381" y="3157548"/>
            <a:ext cx="7263228" cy="1028863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07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三、互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為文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本（１）譯本比對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9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26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398924"/>
              </p:ext>
            </p:extLst>
          </p:nvPr>
        </p:nvGraphicFramePr>
        <p:xfrm>
          <a:off x="517451" y="1174896"/>
          <a:ext cx="3160697" cy="521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1979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057184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38648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51575" y="6132449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408891"/>
              </p:ext>
            </p:extLst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0331" y="3446214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246644"/>
              </p:ext>
            </p:extLst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</a:rPr>
                        <a:t>如是，指上句令入無餘涅槃。無量者，謂種類不限量，無論根性勝劣皆度之。無數者，謂多寡不計數。然或只度一世界，一世界一劫十劫，亦可謂無量無數矣。而今不然，乃無有邊。無邊者，橫遍十方，豎窮三際也。故無邊是總，無量無數是別。因其滅度無邊，乃得為無量無數也。</a:t>
                      </a: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038518"/>
              </p:ext>
            </p:extLst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世尊！如來善護念諸菩薩，善付囑諸菩薩。世尊！善男子、善女人，發阿耨多羅三藐三菩提心，應云何住？云何降伏其心？」佛言：「善哉，善哉！須菩提！如汝所說：『如來善護念諸菩薩，善付囑諸菩薩。』汝今諦聽，當為汝說。善男子、善女人，發阿耨多羅三藐三菩提心，應如是住，如是降伏其心。」「唯然。世尊！願樂欲聞。」佛告須菩提：「諸菩薩摩訶薩應如是降伏其心：『所有一切</a:t>
                      </a:r>
                      <a:r>
                        <a:rPr lang="zh-TW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眾生之類，若卵生、若胎生、若濕生、若化生，若有色、若無色，若有想、若無想、若非有想非無想，我皆令入無餘涅槃而滅度之。』</a:t>
                      </a:r>
                      <a:r>
                        <a:rPr lang="zh-TW" altLang="zh-TW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如是滅度無量無數無邊眾生</a:t>
                      </a:r>
                      <a:r>
                        <a:rPr lang="zh-TW" altLang="zh-TW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實無眾生得滅度者。何以故？須菩提！若菩薩有我相、人相、眾生相、壽者相，即非菩薩。」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』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7" name="圖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60" name="圖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61" name="圖片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sp>
        <p:nvSpPr>
          <p:cNvPr id="68" name="矩形 67"/>
          <p:cNvSpPr/>
          <p:nvPr/>
        </p:nvSpPr>
        <p:spPr>
          <a:xfrm>
            <a:off x="-1" y="0"/>
            <a:ext cx="945223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情境指涉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107" name="矩形 106"/>
          <p:cNvSpPr/>
          <p:nvPr/>
        </p:nvSpPr>
        <p:spPr>
          <a:xfrm>
            <a:off x="4549306" y="3289666"/>
            <a:ext cx="6279655" cy="26721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動作按鈕: 下一項 109">
            <a:hlinkClick r:id="" action="ppaction://hlinkshowjump?jump=nextslide" highlightClick="1"/>
          </p:cNvPr>
          <p:cNvSpPr/>
          <p:nvPr/>
        </p:nvSpPr>
        <p:spPr>
          <a:xfrm>
            <a:off x="11255690" y="124605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動作按鈕: 上一項 110">
            <a:hlinkClick r:id="" action="ppaction://hlinkshowjump?jump=previousslide" highlightClick="1"/>
          </p:cNvPr>
          <p:cNvSpPr/>
          <p:nvPr/>
        </p:nvSpPr>
        <p:spPr>
          <a:xfrm>
            <a:off x="11071737" y="124605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動作按鈕: 下一項 111">
            <a:hlinkClick r:id="" action="ppaction://hlinkshowjump?jump=nextslide" highlightClick="1"/>
          </p:cNvPr>
          <p:cNvSpPr/>
          <p:nvPr/>
        </p:nvSpPr>
        <p:spPr>
          <a:xfrm>
            <a:off x="11212027" y="382548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動作按鈕: 上一項 112">
            <a:hlinkClick r:id="" action="ppaction://hlinkshowjump?jump=previousslide" highlightClick="1"/>
          </p:cNvPr>
          <p:cNvSpPr/>
          <p:nvPr/>
        </p:nvSpPr>
        <p:spPr>
          <a:xfrm>
            <a:off x="11028074" y="382548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9" name="群組 78"/>
          <p:cNvGrpSpPr/>
          <p:nvPr/>
        </p:nvGrpSpPr>
        <p:grpSpPr>
          <a:xfrm>
            <a:off x="8513954" y="3578111"/>
            <a:ext cx="2266766" cy="347377"/>
            <a:chOff x="6404624" y="4304873"/>
            <a:chExt cx="2266766" cy="347377"/>
          </a:xfrm>
        </p:grpSpPr>
        <p:sp>
          <p:nvSpPr>
            <p:cNvPr id="80" name="矩形 79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81" name="圖片 8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82" name="圖片 8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83" name="圖片 8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84" name="圖片 8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85" name="圖片 8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87" name="矩形 86"/>
          <p:cNvSpPr/>
          <p:nvPr/>
        </p:nvSpPr>
        <p:spPr>
          <a:xfrm>
            <a:off x="9521751" y="3658179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4" name="表格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862314"/>
              </p:ext>
            </p:extLst>
          </p:nvPr>
        </p:nvGraphicFramePr>
        <p:xfrm>
          <a:off x="735815" y="1707129"/>
          <a:ext cx="2441597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13758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467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（唐</a:t>
                      </a:r>
                      <a:r>
                        <a:rPr lang="en-US" altLang="zh-TW" sz="7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玄奘譯）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玄奘譯）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金剛經（梵文本）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470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金剛經（藏譯本）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3330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金剛經（英譯本）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5" name="圓角矩形圖說文字 114"/>
          <p:cNvSpPr/>
          <p:nvPr/>
        </p:nvSpPr>
        <p:spPr>
          <a:xfrm>
            <a:off x="317891" y="1650422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58" name="圓角矩形圖說文字 57"/>
          <p:cNvSpPr/>
          <p:nvPr/>
        </p:nvSpPr>
        <p:spPr>
          <a:xfrm>
            <a:off x="9380736" y="4411220"/>
            <a:ext cx="1657314" cy="423719"/>
          </a:xfrm>
          <a:prstGeom prst="wedgeRoundRectCallout">
            <a:avLst>
              <a:gd name="adj1" fmla="val -38288"/>
              <a:gd name="adj2" fmla="val -16946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09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27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6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68717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43221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55063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705" y="1598871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25052" y="612998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20752" y="6170951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4089" y="343705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graphicFrame>
        <p:nvGraphicFramePr>
          <p:cNvPr id="71" name="表格 70"/>
          <p:cNvGraphicFramePr>
            <a:graphicFrameLocks noGrp="1"/>
          </p:cNvGraphicFramePr>
          <p:nvPr>
            <p:extLst/>
          </p:nvPr>
        </p:nvGraphicFramePr>
        <p:xfrm>
          <a:off x="651575" y="1916759"/>
          <a:ext cx="2441597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13758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467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（唐</a:t>
                      </a:r>
                      <a:r>
                        <a:rPr lang="en-US" altLang="zh-TW" sz="7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玄奘譯）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玄奘譯）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金剛經（梵文本）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470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金剛經（藏譯本）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3330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金剛經（英譯本）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483832"/>
              </p:ext>
            </p:extLst>
          </p:nvPr>
        </p:nvGraphicFramePr>
        <p:xfrm>
          <a:off x="3863082" y="1185788"/>
          <a:ext cx="7598815" cy="101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208"/>
                <a:gridCol w="294607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 smtClean="0"/>
                        <a:t>何以故？須菩提！若菩薩有我相、人相、眾生相、壽者相，即非菩薩。</a:t>
                      </a:r>
                      <a:endParaRPr lang="en-US" altLang="zh-TW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7" name="圖片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6230" y="1518439"/>
            <a:ext cx="236641" cy="224809"/>
          </a:xfrm>
          <a:prstGeom prst="rect">
            <a:avLst/>
          </a:prstGeom>
        </p:spPr>
      </p:pic>
      <p:pic>
        <p:nvPicPr>
          <p:cNvPr id="49" name="圖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184089" y="1899380"/>
            <a:ext cx="236641" cy="224809"/>
          </a:xfrm>
          <a:prstGeom prst="rect">
            <a:avLst/>
          </a:prstGeom>
        </p:spPr>
      </p:pic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537357"/>
              </p:ext>
            </p:extLst>
          </p:nvPr>
        </p:nvGraphicFramePr>
        <p:xfrm>
          <a:off x="3863083" y="2284486"/>
          <a:ext cx="7610810" cy="101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738"/>
                <a:gridCol w="295072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能斷金剛般若波羅蜜多經（唐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玄奘譯）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 smtClean="0"/>
                        <a:t>何以故？善現！若諸菩薩摩訶薩有情想轉，不應說名菩薩摩訶薩。所以者何？善現！若諸菩薩摩訶薩不應說言有情想轉，如是命者想、士夫想、補特伽羅想、意生想、摩納婆想、作者想、受者想轉，當知亦爾。何以故？善現！無有少法名為發趣菩薩乘者。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130452"/>
              </p:ext>
            </p:extLst>
          </p:nvPr>
        </p:nvGraphicFramePr>
        <p:xfrm>
          <a:off x="3852809" y="3400904"/>
          <a:ext cx="7621084" cy="101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5613"/>
                <a:gridCol w="295471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金剛經（梵文本）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 smtClean="0"/>
                        <a:t>tat kasya hetoḥ | na sa subhūte bodhisattvo vaktavyo yasya ātma-saṃjñā pravarteta sattva-saṃjñā vā jīva-saṃjñā vā pudgala-saṃjñā vā pravarteta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902745"/>
              </p:ext>
            </p:extLst>
          </p:nvPr>
        </p:nvGraphicFramePr>
        <p:xfrm>
          <a:off x="3852808" y="4464495"/>
          <a:ext cx="7625901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0244"/>
                <a:gridCol w="295657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金剛經（藏譯本）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l"/>
                      <a:r>
                        <a:rPr lang="bo-CN" altLang="zh-TW" sz="2200" dirty="0" smtClean="0"/>
                        <a:t>དེ་ཅིའི་ཕྱིར་ཞེ་ན། རབ་འབྱོར་གང་སེམས་ཅན་དུ་འདུ་ཤེས་འཇུག་གམ། སྲོག་ཏུ་འདུ་ཤེས་འཇུག་གམ། གང་ཟག་ཏུ་འདུ་ཤེས་འཇུག་ན། དེ་བྱང་ཆུབ་སེམས་དཔའ་ཞེས་མི་བྱ་བའི་ཕྱིར་རོ། །</a:t>
                      </a:r>
                      <a:endParaRPr lang="en-US" altLang="zh-TW" sz="2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267315"/>
              </p:ext>
            </p:extLst>
          </p:nvPr>
        </p:nvGraphicFramePr>
        <p:xfrm>
          <a:off x="3842534" y="5554406"/>
          <a:ext cx="7636175" cy="952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0119"/>
                <a:gridCol w="296056"/>
              </a:tblGrid>
              <a:tr h="258085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金剛經（英譯本）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67772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/>
                        <a:t>And why? He is not to be called a Bodhi-being, in whom the notion of a self or of a being should take place, or the notion of a living soul or of a person.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9" name="圖片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4989" y="2627317"/>
            <a:ext cx="236641" cy="224809"/>
          </a:xfrm>
          <a:prstGeom prst="rect">
            <a:avLst/>
          </a:prstGeom>
        </p:spPr>
      </p:pic>
      <p:pic>
        <p:nvPicPr>
          <p:cNvPr id="60" name="圖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217349" y="2997064"/>
            <a:ext cx="236641" cy="224809"/>
          </a:xfrm>
          <a:prstGeom prst="rect">
            <a:avLst/>
          </a:prstGeom>
        </p:spPr>
      </p:pic>
      <p:pic>
        <p:nvPicPr>
          <p:cNvPr id="61" name="圖片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7349" y="3725000"/>
            <a:ext cx="236641" cy="224809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229709" y="4094747"/>
            <a:ext cx="236641" cy="224809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9709" y="4840834"/>
            <a:ext cx="236641" cy="224809"/>
          </a:xfrm>
          <a:prstGeom prst="rect">
            <a:avLst/>
          </a:prstGeom>
        </p:spPr>
      </p:pic>
      <p:pic>
        <p:nvPicPr>
          <p:cNvPr id="75" name="圖片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242069" y="5210581"/>
            <a:ext cx="236641" cy="224809"/>
          </a:xfrm>
          <a:prstGeom prst="rect">
            <a:avLst/>
          </a:prstGeom>
        </p:spPr>
      </p:pic>
      <p:pic>
        <p:nvPicPr>
          <p:cNvPr id="76" name="圖片 7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9722" y="5856711"/>
            <a:ext cx="236641" cy="224809"/>
          </a:xfrm>
          <a:prstGeom prst="rect">
            <a:avLst/>
          </a:prstGeom>
        </p:spPr>
      </p:pic>
      <p:graphicFrame>
        <p:nvGraphicFramePr>
          <p:cNvPr id="77" name="表格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465049"/>
              </p:ext>
            </p:extLst>
          </p:nvPr>
        </p:nvGraphicFramePr>
        <p:xfrm>
          <a:off x="11479888" y="1190662"/>
          <a:ext cx="286543" cy="529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"/>
              </a:tblGrid>
              <a:tr h="529955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8" name="圖片 7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86926" y="2347479"/>
            <a:ext cx="161103" cy="176446"/>
          </a:xfrm>
          <a:prstGeom prst="rect">
            <a:avLst/>
          </a:prstGeom>
        </p:spPr>
      </p:pic>
      <p:pic>
        <p:nvPicPr>
          <p:cNvPr id="79" name="圖片 7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4989" y="3467659"/>
            <a:ext cx="161103" cy="176446"/>
          </a:xfrm>
          <a:prstGeom prst="rect">
            <a:avLst/>
          </a:prstGeom>
        </p:spPr>
      </p:pic>
      <p:pic>
        <p:nvPicPr>
          <p:cNvPr id="80" name="圖片 7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1533" y="4527643"/>
            <a:ext cx="161103" cy="176446"/>
          </a:xfrm>
          <a:prstGeom prst="rect">
            <a:avLst/>
          </a:prstGeom>
        </p:spPr>
      </p:pic>
      <p:pic>
        <p:nvPicPr>
          <p:cNvPr id="81" name="圖片 8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86926" y="5616349"/>
            <a:ext cx="161103" cy="176446"/>
          </a:xfrm>
          <a:prstGeom prst="rect">
            <a:avLst/>
          </a:prstGeom>
        </p:spPr>
      </p:pic>
      <p:sp>
        <p:nvSpPr>
          <p:cNvPr id="82" name="動作按鈕: 下一項 81">
            <a:hlinkClick r:id="" action="ppaction://hlinkshowjump?jump=nextslide" highlightClick="1"/>
          </p:cNvPr>
          <p:cNvSpPr/>
          <p:nvPr/>
        </p:nvSpPr>
        <p:spPr>
          <a:xfrm>
            <a:off x="10933032" y="124667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動作按鈕: 上一項 82">
            <a:hlinkClick r:id="" action="ppaction://hlinkshowjump?jump=previousslide" highlightClick="1"/>
          </p:cNvPr>
          <p:cNvSpPr/>
          <p:nvPr/>
        </p:nvSpPr>
        <p:spPr>
          <a:xfrm>
            <a:off x="10749079" y="124667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動作按鈕: 下一項 83">
            <a:hlinkClick r:id="" action="ppaction://hlinkshowjump?jump=nextslide" highlightClick="1"/>
          </p:cNvPr>
          <p:cNvSpPr/>
          <p:nvPr/>
        </p:nvSpPr>
        <p:spPr>
          <a:xfrm>
            <a:off x="10933032" y="2347286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動作按鈕: 上一項 84">
            <a:hlinkClick r:id="" action="ppaction://hlinkshowjump?jump=previousslide" highlightClick="1"/>
          </p:cNvPr>
          <p:cNvSpPr/>
          <p:nvPr/>
        </p:nvSpPr>
        <p:spPr>
          <a:xfrm>
            <a:off x="10749079" y="2347286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動作按鈕: 下一項 85">
            <a:hlinkClick r:id="" action="ppaction://hlinkshowjump?jump=nextslide" highlightClick="1"/>
          </p:cNvPr>
          <p:cNvSpPr/>
          <p:nvPr/>
        </p:nvSpPr>
        <p:spPr>
          <a:xfrm>
            <a:off x="10933032" y="346765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動作按鈕: 上一項 86">
            <a:hlinkClick r:id="" action="ppaction://hlinkshowjump?jump=previousslide" highlightClick="1"/>
          </p:cNvPr>
          <p:cNvSpPr/>
          <p:nvPr/>
        </p:nvSpPr>
        <p:spPr>
          <a:xfrm>
            <a:off x="10749079" y="346765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動作按鈕: 下一項 87">
            <a:hlinkClick r:id="" action="ppaction://hlinkshowjump?jump=nextslide" highlightClick="1"/>
          </p:cNvPr>
          <p:cNvSpPr/>
          <p:nvPr/>
        </p:nvSpPr>
        <p:spPr>
          <a:xfrm>
            <a:off x="10933032" y="449980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動作按鈕: 上一項 105">
            <a:hlinkClick r:id="" action="ppaction://hlinkshowjump?jump=previousslide" highlightClick="1"/>
          </p:cNvPr>
          <p:cNvSpPr/>
          <p:nvPr/>
        </p:nvSpPr>
        <p:spPr>
          <a:xfrm>
            <a:off x="10749079" y="449980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動作按鈕: 下一項 106">
            <a:hlinkClick r:id="" action="ppaction://hlinkshowjump?jump=nextslide" highlightClick="1"/>
          </p:cNvPr>
          <p:cNvSpPr/>
          <p:nvPr/>
        </p:nvSpPr>
        <p:spPr>
          <a:xfrm>
            <a:off x="10933032" y="5616349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動作按鈕: 上一項 107">
            <a:hlinkClick r:id="" action="ppaction://hlinkshowjump?jump=previousslide" highlightClick="1"/>
          </p:cNvPr>
          <p:cNvSpPr/>
          <p:nvPr/>
        </p:nvSpPr>
        <p:spPr>
          <a:xfrm>
            <a:off x="10749079" y="5616349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9" name="圖片 1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513177" y="6228823"/>
            <a:ext cx="236641" cy="225821"/>
          </a:xfrm>
          <a:prstGeom prst="rect">
            <a:avLst/>
          </a:prstGeom>
        </p:spPr>
      </p:pic>
      <p:pic>
        <p:nvPicPr>
          <p:cNvPr id="110" name="圖片 1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3178" y="1258930"/>
            <a:ext cx="236641" cy="225821"/>
          </a:xfrm>
          <a:prstGeom prst="rect">
            <a:avLst/>
          </a:prstGeom>
        </p:spPr>
      </p:pic>
      <p:pic>
        <p:nvPicPr>
          <p:cNvPr id="111" name="圖片 1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217349" y="6265407"/>
            <a:ext cx="236641" cy="224809"/>
          </a:xfrm>
          <a:prstGeom prst="rect">
            <a:avLst/>
          </a:prstGeom>
        </p:spPr>
      </p:pic>
      <p:sp>
        <p:nvSpPr>
          <p:cNvPr id="112" name="矩形 111"/>
          <p:cNvSpPr/>
          <p:nvPr/>
        </p:nvSpPr>
        <p:spPr>
          <a:xfrm>
            <a:off x="0" y="0"/>
            <a:ext cx="1962654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互為文本</a:t>
            </a:r>
            <a:r>
              <a:rPr lang="en-US" altLang="zh-TW" sz="1400" dirty="0" smtClean="0"/>
              <a:t>—</a:t>
            </a:r>
            <a:r>
              <a:rPr lang="zh-TW" altLang="en-US" sz="1400" dirty="0" smtClean="0"/>
              <a:t>譯本比對</a:t>
            </a:r>
            <a:endParaRPr lang="zh-TW" altLang="en-US" sz="1400" dirty="0"/>
          </a:p>
        </p:txBody>
      </p:sp>
      <p:pic>
        <p:nvPicPr>
          <p:cNvPr id="113" name="圖片 1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25576" y="1238601"/>
            <a:ext cx="161103" cy="17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7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28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450199"/>
              </p:ext>
            </p:extLst>
          </p:nvPr>
        </p:nvGraphicFramePr>
        <p:xfrm>
          <a:off x="517451" y="1174894"/>
          <a:ext cx="3160697" cy="527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357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882708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347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705" y="1598871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25052" y="612998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63218" y="6252011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4089" y="343705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712849"/>
              </p:ext>
            </p:extLst>
          </p:nvPr>
        </p:nvGraphicFramePr>
        <p:xfrm>
          <a:off x="3863082" y="1185788"/>
          <a:ext cx="7726167" cy="101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669"/>
                <a:gridCol w="318498"/>
              </a:tblGrid>
              <a:tr h="22143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738119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 smtClean="0"/>
                        <a:t>何以故？須菩提！若菩薩有我相、人相、眾生相、壽者相，即非菩薩。</a:t>
                      </a:r>
                      <a:endParaRPr lang="en-US" altLang="zh-TW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7" name="圖片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6696" y="1504835"/>
            <a:ext cx="236641" cy="224809"/>
          </a:xfrm>
          <a:prstGeom prst="rect">
            <a:avLst/>
          </a:prstGeom>
        </p:spPr>
      </p:pic>
      <p:pic>
        <p:nvPicPr>
          <p:cNvPr id="49" name="圖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294939" y="1920477"/>
            <a:ext cx="236641" cy="224809"/>
          </a:xfrm>
          <a:prstGeom prst="rect">
            <a:avLst/>
          </a:prstGeom>
        </p:spPr>
      </p:pic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95022"/>
              </p:ext>
            </p:extLst>
          </p:nvPr>
        </p:nvGraphicFramePr>
        <p:xfrm>
          <a:off x="3863083" y="2284486"/>
          <a:ext cx="7736441" cy="4157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7942"/>
                <a:gridCol w="318499"/>
              </a:tblGrid>
              <a:tr h="314593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842818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 smtClean="0"/>
                        <a:t>徵，舉也。舉上文所言之義而釋明之，曰徵釋。即自問自答之意。人眾壽皆自我開出。有我相，便有對待之人相。人不止一，為眾生相。執我之見繼續不斷，即壽者相。四相不外一個我相也。今開而說之者，明執我者便有分別心。使知六識生於末那，有末那便有六識，不相離也。如此執我分別乃凡夫通病，豈是菩薩，故曰即非。所以警誡發大心者至深切矣。我相因我見生，我見以我相顯。一表一裏，從來不離。破我相即是破我見也。相有粗細，粗則著境，細則著心。後周亦言我相，是約心言，即約識言。蓋八識為真如心變現之相，故唯識宗亦名相宗。此科本釋上科令發大願之故。何不曰：「何以故？大而化之故，斷惑故，轉識故，乃至度己先當度他，度他即是度己故。」如此豈不令上科之義更顯，而必從反面言之，何耶？蓋斷惑轉識等等，皆法也，皆不可取。取則又成我相，又成分別。故不用表詮，而用遮詮，一齊遣蕩。此世尊之微意，亦般若之正宗也。補四相，即是一個我相。有我，即有對待之人相。對待者不止一人，即眾生相。我相在妄心中，念念繼續不忘，即壽者相。菩薩茍見有眾生得度，自我度之，即有我相，從而四相俱起。有四相，即有分別心。有分別心，是凡夫，不是菩薩。修行者，第一應撇開我字，發心為一切眾生，此即降伏我相。我皆令入無餘涅槃而滅度之，眾生剛強，令他修行已不易，何況了生死。然皆不問，無論人與非人，皆度之成佛，亦本來是佛，此即降伏人相。滅度無量無數無邊眾生，心中不起如何能度盡之念，此即降伏壽者相。實無眾生得滅度者，此即降伏眾生相。何以要如是降伏？蓋發無上心者，要行菩薩行，普賢行，倘有四相，如何得稱菩薩？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9" name="圖片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2395" y="2640461"/>
            <a:ext cx="236641" cy="224809"/>
          </a:xfrm>
          <a:prstGeom prst="rect">
            <a:avLst/>
          </a:prstGeom>
        </p:spPr>
      </p:pic>
      <p:pic>
        <p:nvPicPr>
          <p:cNvPr id="60" name="圖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299493" y="6129989"/>
            <a:ext cx="236641" cy="224809"/>
          </a:xfrm>
          <a:prstGeom prst="rect">
            <a:avLst/>
          </a:prstGeom>
        </p:spPr>
      </p:pic>
      <p:pic>
        <p:nvPicPr>
          <p:cNvPr id="78" name="圖片 7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86926" y="2347479"/>
            <a:ext cx="161103" cy="176446"/>
          </a:xfrm>
          <a:prstGeom prst="rect">
            <a:avLst/>
          </a:prstGeom>
        </p:spPr>
      </p:pic>
      <p:sp>
        <p:nvSpPr>
          <p:cNvPr id="82" name="動作按鈕: 下一項 81">
            <a:hlinkClick r:id="" action="ppaction://hlinkshowjump?jump=nextslide" highlightClick="1"/>
          </p:cNvPr>
          <p:cNvSpPr/>
          <p:nvPr/>
        </p:nvSpPr>
        <p:spPr>
          <a:xfrm>
            <a:off x="10933032" y="124667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動作按鈕: 上一項 82">
            <a:hlinkClick r:id="" action="ppaction://hlinkshowjump?jump=previousslide" highlightClick="1"/>
          </p:cNvPr>
          <p:cNvSpPr/>
          <p:nvPr/>
        </p:nvSpPr>
        <p:spPr>
          <a:xfrm>
            <a:off x="10749079" y="124667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動作按鈕: 下一項 83">
            <a:hlinkClick r:id="" action="ppaction://hlinkshowjump?jump=nextslide" highlightClick="1"/>
          </p:cNvPr>
          <p:cNvSpPr/>
          <p:nvPr/>
        </p:nvSpPr>
        <p:spPr>
          <a:xfrm>
            <a:off x="10933032" y="2347286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動作按鈕: 上一項 84">
            <a:hlinkClick r:id="" action="ppaction://hlinkshowjump?jump=previousslide" highlightClick="1"/>
          </p:cNvPr>
          <p:cNvSpPr/>
          <p:nvPr/>
        </p:nvSpPr>
        <p:spPr>
          <a:xfrm>
            <a:off x="10749079" y="2347286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矩形 111"/>
          <p:cNvSpPr/>
          <p:nvPr/>
        </p:nvSpPr>
        <p:spPr>
          <a:xfrm>
            <a:off x="0" y="0"/>
            <a:ext cx="1962654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互為文本</a:t>
            </a:r>
            <a:r>
              <a:rPr lang="en-US" altLang="zh-TW" sz="1400" dirty="0" smtClean="0"/>
              <a:t>—</a:t>
            </a:r>
            <a:r>
              <a:rPr lang="zh-TW" altLang="en-US" sz="1400" dirty="0" smtClean="0"/>
              <a:t>譯本比對</a:t>
            </a:r>
            <a:endParaRPr lang="zh-TW" altLang="en-US" sz="1400" dirty="0"/>
          </a:p>
        </p:txBody>
      </p:sp>
      <p:pic>
        <p:nvPicPr>
          <p:cNvPr id="113" name="圖片 1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25576" y="1238601"/>
            <a:ext cx="161103" cy="176446"/>
          </a:xfrm>
          <a:prstGeom prst="rect">
            <a:avLst/>
          </a:prstGeom>
        </p:spPr>
      </p:pic>
      <p:grpSp>
        <p:nvGrpSpPr>
          <p:cNvPr id="65" name="群組 64"/>
          <p:cNvGrpSpPr/>
          <p:nvPr/>
        </p:nvGrpSpPr>
        <p:grpSpPr>
          <a:xfrm>
            <a:off x="8268548" y="1817589"/>
            <a:ext cx="2266766" cy="347377"/>
            <a:chOff x="6404624" y="4304873"/>
            <a:chExt cx="2266766" cy="347377"/>
          </a:xfrm>
        </p:grpSpPr>
        <p:sp>
          <p:nvSpPr>
            <p:cNvPr id="66" name="矩形 65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7" name="圖片 6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68" name="圖片 6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69" name="圖片 6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70" name="圖片 6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73" name="圖片 7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114" name="矩形 113"/>
          <p:cNvSpPr/>
          <p:nvPr/>
        </p:nvSpPr>
        <p:spPr>
          <a:xfrm>
            <a:off x="8782141" y="1864653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矩形 114"/>
          <p:cNvSpPr/>
          <p:nvPr/>
        </p:nvSpPr>
        <p:spPr>
          <a:xfrm>
            <a:off x="3904066" y="1500117"/>
            <a:ext cx="5608153" cy="26721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8359113" y="1864266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6" name="表格 115"/>
          <p:cNvGraphicFramePr>
            <a:graphicFrameLocks noGrp="1"/>
          </p:cNvGraphicFramePr>
          <p:nvPr>
            <p:extLst/>
          </p:nvPr>
        </p:nvGraphicFramePr>
        <p:xfrm>
          <a:off x="734423" y="1676420"/>
          <a:ext cx="2441597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金剛般若波羅蜜經（姚秦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鳩摩羅什譯）（昭明太子）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李慧萍增補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)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7" name="圓角矩形圖說文字 116"/>
          <p:cNvSpPr/>
          <p:nvPr/>
        </p:nvSpPr>
        <p:spPr>
          <a:xfrm>
            <a:off x="7456532" y="2306665"/>
            <a:ext cx="2879516" cy="257688"/>
          </a:xfrm>
          <a:prstGeom prst="wedgeRoundRectCallout">
            <a:avLst>
              <a:gd name="adj1" fmla="val -12598"/>
              <a:gd name="adj2" fmla="val -113644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5747" y="3570961"/>
            <a:ext cx="1934634" cy="2581308"/>
          </a:xfrm>
          <a:prstGeom prst="rect">
            <a:avLst/>
          </a:prstGeom>
        </p:spPr>
      </p:pic>
      <p:sp>
        <p:nvSpPr>
          <p:cNvPr id="118" name="矩形 117"/>
          <p:cNvSpPr/>
          <p:nvPr/>
        </p:nvSpPr>
        <p:spPr>
          <a:xfrm>
            <a:off x="2023064" y="6010382"/>
            <a:ext cx="641931" cy="141887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44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三、互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為文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本（２）內文引證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125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36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7768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8858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000" y="1565777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356000" y="6069550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7" y="6136199"/>
            <a:ext cx="2598871" cy="115745"/>
          </a:xfrm>
          <a:prstGeom prst="rect">
            <a:avLst/>
          </a:prstGeom>
        </p:spPr>
      </p:pic>
      <p:sp>
        <p:nvSpPr>
          <p:cNvPr id="24" name="圓角矩形圖說文字 23"/>
          <p:cNvSpPr/>
          <p:nvPr/>
        </p:nvSpPr>
        <p:spPr>
          <a:xfrm>
            <a:off x="106871" y="5366906"/>
            <a:ext cx="355465" cy="1033894"/>
          </a:xfrm>
          <a:prstGeom prst="wedgeRoundRectCallout">
            <a:avLst>
              <a:gd name="adj1" fmla="val 132933"/>
              <a:gd name="adj2" fmla="val -2504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選經典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09622" y="1710433"/>
          <a:ext cx="2441597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56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鳩摩羅什譯）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467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（唐</a:t>
                      </a:r>
                      <a:r>
                        <a:rPr lang="en-US" altLang="zh-TW" sz="7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玄奘譯）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金剛能斷般若波羅蜜經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（隋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達磨笈多譯）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金剛經（梵文本）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470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金剛經（藏譯本）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3330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金剛經（英譯本）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金剛般若波羅蜜經注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釋僧肇）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吉藏）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智顗）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金剛般若經疏論纂要（唐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宗密）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金剛經註疏（唐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慧淨）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金剛般若經贊述（唐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窺基）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金剛經疏記會編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（明釋大璸疏記科會）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301477"/>
              </p:ext>
            </p:extLst>
          </p:nvPr>
        </p:nvGraphicFramePr>
        <p:xfrm>
          <a:off x="3842534" y="1193944"/>
          <a:ext cx="7885177" cy="522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6713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33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初曰如是者，不異為如，無非曰是。凡人相信，則曰如是。不信，必曰不如是。今結集者一啟口而鄭重言之曰如是，所以明其言言如佛所說，辭義無謬也，（校也，舊版無。據原稿補。）則足以信今而傳後矣，故曰信成就也。華嚴經曰：信為道元（校元，舊版作源，經及原稿作元。）功德母，長養一切諸善法。信乃入道初門，故列在最初。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圖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631" y="1678182"/>
            <a:ext cx="236641" cy="224809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61888"/>
            <a:ext cx="236641" cy="224809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-1" y="0"/>
            <a:ext cx="924675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 smtClean="0"/>
              <a:t>首頁</a:t>
            </a:r>
            <a:endParaRPr lang="zh-TW" altLang="en-US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30</a:t>
            </a:fld>
            <a:endParaRPr lang="zh-TW" altLang="en-US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848" y="1291927"/>
            <a:ext cx="161103" cy="176446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3348424" y="1796455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44" name="文字方塊 43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46" name="群組 45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61" name="圖片 6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62" name="矩形 61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48" name="群組 47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59" name="圖片 5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60" name="矩形 59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49" name="群組 48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56" name="圖片 5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57" name="矩形 56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50" name="群組 49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55" name="圖片 5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51" name="群組 50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53" name="圖片 5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63" name="動作按鈕: 下一項 62">
            <a:hlinkClick r:id="" action="ppaction://hlinkshowjump?jump=nextslide" highlightClick="1"/>
          </p:cNvPr>
          <p:cNvSpPr/>
          <p:nvPr/>
        </p:nvSpPr>
        <p:spPr>
          <a:xfrm>
            <a:off x="11115656" y="130143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動作按鈕: 上一項 63">
            <a:hlinkClick r:id="" action="ppaction://hlinkshowjump?jump=previousslide" highlightClick="1"/>
          </p:cNvPr>
          <p:cNvSpPr/>
          <p:nvPr/>
        </p:nvSpPr>
        <p:spPr>
          <a:xfrm>
            <a:off x="10931703" y="130143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08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31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6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68717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43221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55063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705" y="1598871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25052" y="612998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20752" y="6170951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4089" y="343705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01363"/>
              </p:ext>
            </p:extLst>
          </p:nvPr>
        </p:nvGraphicFramePr>
        <p:xfrm>
          <a:off x="3842534" y="1193944"/>
          <a:ext cx="7885177" cy="522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6713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33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初曰如是者，不異為如，無非曰是。凡人相信，則曰如是。不信，必曰不如是。今結集者一啟口而鄭重言之曰如是，所以明其言言如佛所說，辭義無謬也，（校也，舊版無。據原稿補。）則足以信今而傳後矣，故曰信成就也。華嚴經曰：信為道元（校元，舊版作源，經及原稿作元。）功德母，長養一切諸善法。信乃入道初門，故列在最初。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8" name="圖片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631" y="1678182"/>
            <a:ext cx="236641" cy="224809"/>
          </a:xfrm>
          <a:prstGeom prst="rect">
            <a:avLst/>
          </a:prstGeom>
        </p:spPr>
      </p:pic>
      <p:pic>
        <p:nvPicPr>
          <p:cNvPr id="64" name="圖片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061888"/>
            <a:ext cx="236641" cy="224809"/>
          </a:xfrm>
          <a:prstGeom prst="rect">
            <a:avLst/>
          </a:prstGeom>
        </p:spPr>
      </p:pic>
      <p:pic>
        <p:nvPicPr>
          <p:cNvPr id="65" name="圖片 6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04848" y="1291927"/>
            <a:ext cx="161103" cy="176446"/>
          </a:xfrm>
          <a:prstGeom prst="rect">
            <a:avLst/>
          </a:prstGeom>
        </p:spPr>
      </p:pic>
      <p:sp>
        <p:nvSpPr>
          <p:cNvPr id="66" name="動作按鈕: 下一項 65">
            <a:hlinkClick r:id="" action="ppaction://hlinkshowjump?jump=nextslide" highlightClick="1"/>
          </p:cNvPr>
          <p:cNvSpPr/>
          <p:nvPr/>
        </p:nvSpPr>
        <p:spPr>
          <a:xfrm>
            <a:off x="11115656" y="130143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動作按鈕: 上一項 66">
            <a:hlinkClick r:id="" action="ppaction://hlinkshowjump?jump=previousslide" highlightClick="1"/>
          </p:cNvPr>
          <p:cNvSpPr/>
          <p:nvPr/>
        </p:nvSpPr>
        <p:spPr>
          <a:xfrm>
            <a:off x="10931703" y="130143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/>
        </p:nvSpPr>
        <p:spPr>
          <a:xfrm>
            <a:off x="0" y="0"/>
            <a:ext cx="1962654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 smtClean="0"/>
              <a:t>互為文本</a:t>
            </a:r>
            <a:r>
              <a:rPr lang="en-US" altLang="zh-TW" sz="1400" dirty="0" smtClean="0"/>
              <a:t>—</a:t>
            </a:r>
            <a:r>
              <a:rPr lang="zh-TW" altLang="en-US" sz="1400" dirty="0" smtClean="0"/>
              <a:t>譯本比對</a:t>
            </a:r>
            <a:endParaRPr lang="zh-TW" altLang="en-US" sz="1400" dirty="0"/>
          </a:p>
        </p:txBody>
      </p:sp>
      <p:sp>
        <p:nvSpPr>
          <p:cNvPr id="46" name="矩形 45"/>
          <p:cNvSpPr/>
          <p:nvPr/>
        </p:nvSpPr>
        <p:spPr>
          <a:xfrm>
            <a:off x="8609744" y="5383658"/>
            <a:ext cx="2728815" cy="256854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3842732" y="5720993"/>
            <a:ext cx="5177978" cy="256854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675172"/>
              </p:ext>
            </p:extLst>
          </p:nvPr>
        </p:nvGraphicFramePr>
        <p:xfrm>
          <a:off x="762288" y="1964233"/>
          <a:ext cx="213337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77"/>
                <a:gridCol w="1849295"/>
              </a:tblGrid>
              <a:tr h="241151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80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大方廣佛華嚴經（東晉</a:t>
                      </a: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佛馱跋陀羅譯）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38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/>
                        <a:t>大方廣佛華嚴經（唐</a:t>
                      </a:r>
                      <a:r>
                        <a:rPr lang="en-US" altLang="zh-TW" sz="1000" dirty="0" smtClean="0"/>
                        <a:t>‧</a:t>
                      </a:r>
                      <a:r>
                        <a:rPr lang="zh-TW" altLang="en-US" sz="1000" dirty="0" smtClean="0"/>
                        <a:t>實叉難陀譯）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407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字詞典、百科類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6" name="群組 55"/>
          <p:cNvGrpSpPr/>
          <p:nvPr/>
        </p:nvGrpSpPr>
        <p:grpSpPr>
          <a:xfrm>
            <a:off x="9060814" y="5804158"/>
            <a:ext cx="2266766" cy="347377"/>
            <a:chOff x="6404624" y="4304873"/>
            <a:chExt cx="2266766" cy="347377"/>
          </a:xfrm>
        </p:grpSpPr>
        <p:sp>
          <p:nvSpPr>
            <p:cNvPr id="57" name="矩形 56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59" name="圖片 5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60" name="圖片 5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61" name="圖片 6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62" name="圖片 6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63" name="圖片 6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68" name="矩形 67"/>
          <p:cNvSpPr/>
          <p:nvPr/>
        </p:nvSpPr>
        <p:spPr>
          <a:xfrm>
            <a:off x="10036158" y="5835314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圓角矩形圖說文字 49"/>
          <p:cNvSpPr/>
          <p:nvPr/>
        </p:nvSpPr>
        <p:spPr>
          <a:xfrm>
            <a:off x="296111" y="2014914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55" name="圓角矩形圖說文字 54"/>
          <p:cNvSpPr/>
          <p:nvPr/>
        </p:nvSpPr>
        <p:spPr>
          <a:xfrm>
            <a:off x="8271413" y="6242393"/>
            <a:ext cx="3067146" cy="423719"/>
          </a:xfrm>
          <a:prstGeom prst="wedgeRoundRectCallout">
            <a:avLst>
              <a:gd name="adj1" fmla="val 10618"/>
              <a:gd name="adj2" fmla="val -7974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70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32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6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68717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43221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55063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705" y="1598871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25052" y="612998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20752" y="6170951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4089" y="343705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76" name="矩形 75"/>
          <p:cNvSpPr/>
          <p:nvPr/>
        </p:nvSpPr>
        <p:spPr>
          <a:xfrm>
            <a:off x="0" y="0"/>
            <a:ext cx="1962654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 smtClean="0"/>
              <a:t>互為文本</a:t>
            </a:r>
            <a:r>
              <a:rPr lang="en-US" altLang="zh-TW" sz="1400" dirty="0" smtClean="0"/>
              <a:t>—</a:t>
            </a:r>
            <a:r>
              <a:rPr lang="zh-TW" altLang="en-US" sz="1400" dirty="0" smtClean="0"/>
              <a:t>譯本比對</a:t>
            </a:r>
            <a:endParaRPr lang="zh-TW" altLang="en-US" sz="1400" dirty="0"/>
          </a:p>
        </p:txBody>
      </p:sp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762288" y="1964233"/>
          <a:ext cx="213337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77"/>
                <a:gridCol w="1849295"/>
              </a:tblGrid>
              <a:tr h="241151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80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大方廣佛華嚴經（東晉</a:t>
                      </a: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佛馱跋陀羅譯）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38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/>
                        <a:t>大方廣佛華嚴經（唐</a:t>
                      </a:r>
                      <a:r>
                        <a:rPr lang="en-US" altLang="zh-TW" sz="1000" dirty="0" smtClean="0"/>
                        <a:t>‧</a:t>
                      </a:r>
                      <a:r>
                        <a:rPr lang="zh-TW" altLang="en-US" sz="1000" dirty="0" smtClean="0"/>
                        <a:t>實叉難陀譯）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407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字詞典、百科類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842691"/>
              </p:ext>
            </p:extLst>
          </p:nvPr>
        </p:nvGraphicFramePr>
        <p:xfrm>
          <a:off x="3832261" y="1169624"/>
          <a:ext cx="7859730" cy="1974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135"/>
                <a:gridCol w="359595"/>
              </a:tblGrid>
              <a:tr h="30361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67065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1400" dirty="0" smtClean="0"/>
                        <a:t>初曰如是者，不異為如，無非曰是。凡人相信，則曰如是。不信，必曰不如是。今結集者一啟口而鄭重言之曰如是，所以明其言言如佛所說，辭義無謬也，（校也，舊版無。據原稿補。）則足以信今而傳後矣，故曰信成就也。華嚴經曰：信為道元（校元，舊版作源，經及原稿作元。）功德母，長養一切諸善法。信乃入道初門，故列在最初。</a:t>
                      </a:r>
                      <a:endParaRPr lang="en-US" altLang="zh-TW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6" name="圖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6538" y="1588808"/>
            <a:ext cx="228805" cy="201128"/>
          </a:xfrm>
          <a:prstGeom prst="rect">
            <a:avLst/>
          </a:prstGeom>
        </p:spPr>
      </p:pic>
      <p:graphicFrame>
        <p:nvGraphicFramePr>
          <p:cNvPr id="57" name="表格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613274"/>
              </p:ext>
            </p:extLst>
          </p:nvPr>
        </p:nvGraphicFramePr>
        <p:xfrm>
          <a:off x="3818800" y="3272139"/>
          <a:ext cx="7904013" cy="1498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240"/>
                <a:gridCol w="328773"/>
              </a:tblGrid>
              <a:tr h="2828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大方廣佛華嚴經（東晉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佛馱跋陀羅譯）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21572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　深信諸佛及正法，　　亦信菩薩所行道，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　正心信向佛菩提，　　菩薩因是初發心。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　</a:t>
                      </a:r>
                      <a:r>
                        <a:rPr lang="zh-TW" altLang="en-US" sz="1200" dirty="0" smtClean="0">
                          <a:solidFill>
                            <a:srgbClr val="0000FF"/>
                          </a:solidFill>
                        </a:rPr>
                        <a:t>信為道元功德母，　　增長一切諸善法，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1200" dirty="0" smtClean="0">
                          <a:solidFill>
                            <a:schemeClr val="tx1"/>
                          </a:solidFill>
                        </a:rPr>
                        <a:t>　除滅一切諸疑惑，　　示現開發無上道。</a:t>
                      </a:r>
                      <a:endParaRPr lang="en-US" altLang="zh-TW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698681"/>
              </p:ext>
            </p:extLst>
          </p:nvPr>
        </p:nvGraphicFramePr>
        <p:xfrm>
          <a:off x="3839348" y="4915816"/>
          <a:ext cx="7934836" cy="1498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5515"/>
                <a:gridCol w="349321"/>
              </a:tblGrid>
              <a:tr h="2828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大方廣佛華嚴經（唐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實叉難陀譯）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21572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深信於佛及佛法，　　亦信佛子所行道，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及信無上大菩提，　　菩薩以是初發心。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  <a:r>
                        <a:rPr lang="zh-TW" altLang="en-US" sz="12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信為道元功德母，　　長養一切諸善法，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斷除疑網出愛流，　　開示涅槃無上道。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0" name="圖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62" y="5304460"/>
            <a:ext cx="228805" cy="201128"/>
          </a:xfrm>
          <a:prstGeom prst="rect">
            <a:avLst/>
          </a:prstGeom>
        </p:spPr>
      </p:pic>
      <p:pic>
        <p:nvPicPr>
          <p:cNvPr id="61" name="圖片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74061" y="6170951"/>
            <a:ext cx="228805" cy="201128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793" y="3654820"/>
            <a:ext cx="228805" cy="201128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26536" y="4493530"/>
            <a:ext cx="228805" cy="201128"/>
          </a:xfrm>
          <a:prstGeom prst="rect">
            <a:avLst/>
          </a:prstGeom>
        </p:spPr>
      </p:pic>
      <p:pic>
        <p:nvPicPr>
          <p:cNvPr id="68" name="圖片 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393058" y="2882725"/>
            <a:ext cx="228805" cy="201128"/>
          </a:xfrm>
          <a:prstGeom prst="rect">
            <a:avLst/>
          </a:prstGeom>
        </p:spPr>
      </p:pic>
      <p:sp>
        <p:nvSpPr>
          <p:cNvPr id="69" name="矩形 68"/>
          <p:cNvSpPr/>
          <p:nvPr/>
        </p:nvSpPr>
        <p:spPr>
          <a:xfrm>
            <a:off x="7448763" y="2207456"/>
            <a:ext cx="3616503" cy="256854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/>
        </p:nvSpPr>
        <p:spPr>
          <a:xfrm>
            <a:off x="3924014" y="2566206"/>
            <a:ext cx="5372386" cy="256854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動作按鈕: 下一項 70">
            <a:hlinkClick r:id="" action="ppaction://hlinkshowjump?jump=nextslide" highlightClick="1"/>
          </p:cNvPr>
          <p:cNvSpPr/>
          <p:nvPr/>
        </p:nvSpPr>
        <p:spPr>
          <a:xfrm>
            <a:off x="11057294" y="1230961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動作按鈕: 上一項 72">
            <a:hlinkClick r:id="" action="ppaction://hlinkshowjump?jump=previousslide" highlightClick="1"/>
          </p:cNvPr>
          <p:cNvSpPr/>
          <p:nvPr/>
        </p:nvSpPr>
        <p:spPr>
          <a:xfrm>
            <a:off x="10873341" y="1230961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7" name="圖片 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49838" y="1222887"/>
            <a:ext cx="161103" cy="176446"/>
          </a:xfrm>
          <a:prstGeom prst="rect">
            <a:avLst/>
          </a:prstGeom>
        </p:spPr>
      </p:pic>
      <p:sp>
        <p:nvSpPr>
          <p:cNvPr id="78" name="動作按鈕: 下一項 77">
            <a:hlinkClick r:id="" action="ppaction://hlinkshowjump?jump=nextslide" highlightClick="1"/>
          </p:cNvPr>
          <p:cNvSpPr/>
          <p:nvPr/>
        </p:nvSpPr>
        <p:spPr>
          <a:xfrm>
            <a:off x="11057294" y="332357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動作按鈕: 上一項 78">
            <a:hlinkClick r:id="" action="ppaction://hlinkshowjump?jump=previousslide" highlightClick="1"/>
          </p:cNvPr>
          <p:cNvSpPr/>
          <p:nvPr/>
        </p:nvSpPr>
        <p:spPr>
          <a:xfrm>
            <a:off x="10873341" y="332357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0" name="圖片 7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35307" y="3330300"/>
            <a:ext cx="161103" cy="176446"/>
          </a:xfrm>
          <a:prstGeom prst="rect">
            <a:avLst/>
          </a:prstGeom>
        </p:spPr>
      </p:pic>
      <p:sp>
        <p:nvSpPr>
          <p:cNvPr id="81" name="動作按鈕: 下一項 80">
            <a:hlinkClick r:id="" action="ppaction://hlinkshowjump?jump=nextslide" highlightClick="1"/>
          </p:cNvPr>
          <p:cNvSpPr/>
          <p:nvPr/>
        </p:nvSpPr>
        <p:spPr>
          <a:xfrm>
            <a:off x="11249220" y="4961412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動作按鈕: 上一項 81">
            <a:hlinkClick r:id="" action="ppaction://hlinkshowjump?jump=previousslide" highlightClick="1"/>
          </p:cNvPr>
          <p:cNvSpPr/>
          <p:nvPr/>
        </p:nvSpPr>
        <p:spPr>
          <a:xfrm>
            <a:off x="11065267" y="4961412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3" name="圖片 8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41764" y="4953338"/>
            <a:ext cx="161103" cy="17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8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三、互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為文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本（３）參校資料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28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34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6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68717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43221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55063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705" y="1598871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25052" y="612998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20752" y="6170951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4089" y="343705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76" name="矩形 75"/>
          <p:cNvSpPr/>
          <p:nvPr/>
        </p:nvSpPr>
        <p:spPr>
          <a:xfrm>
            <a:off x="0" y="0"/>
            <a:ext cx="1962654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互為文本</a:t>
            </a:r>
            <a:r>
              <a:rPr lang="en-US" altLang="zh-TW" sz="1400" dirty="0" smtClean="0"/>
              <a:t>—</a:t>
            </a:r>
            <a:r>
              <a:rPr lang="zh-TW" altLang="en-US" sz="1400" dirty="0" smtClean="0"/>
              <a:t>譯本比對</a:t>
            </a:r>
            <a:endParaRPr lang="zh-TW" altLang="en-US" sz="1400" dirty="0"/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795573"/>
              </p:ext>
            </p:extLst>
          </p:nvPr>
        </p:nvGraphicFramePr>
        <p:xfrm>
          <a:off x="3832261" y="1169623"/>
          <a:ext cx="7808359" cy="2617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7941"/>
                <a:gridCol w="390418"/>
              </a:tblGrid>
              <a:tr h="377212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929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初曰如是者，不異為如，無非曰是。凡人相信，則曰如是。不信，必曰不如是。今結集者一啟口而鄭重言之曰如是，所以明其言言如佛所說，辭義無謬也，（校也，舊版無。據原稿補。）則足以信今而傳後矣，故曰信成就也。華嚴經曰：信為道元（校元，舊版作源，經及原稿作元。）功德母，長養一切諸善法。信乃入道初門，故列在最初。</a:t>
                      </a:r>
                      <a:endParaRPr lang="en-US" altLang="zh-TW" sz="1600" dirty="0" smtClean="0"/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zh-TW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6" name="圖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9580" y="1622552"/>
            <a:ext cx="228805" cy="201128"/>
          </a:xfrm>
          <a:prstGeom prst="rect">
            <a:avLst/>
          </a:prstGeom>
        </p:spPr>
      </p:pic>
      <p:pic>
        <p:nvPicPr>
          <p:cNvPr id="68" name="圖片 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309581" y="3492976"/>
            <a:ext cx="228805" cy="201128"/>
          </a:xfrm>
          <a:prstGeom prst="rect">
            <a:avLst/>
          </a:prstGeom>
        </p:spPr>
      </p:pic>
      <p:sp>
        <p:nvSpPr>
          <p:cNvPr id="71" name="動作按鈕: 下一項 70">
            <a:hlinkClick r:id="" action="ppaction://hlinkshowjump?jump=nextslide" highlightClick="1"/>
          </p:cNvPr>
          <p:cNvSpPr/>
          <p:nvPr/>
        </p:nvSpPr>
        <p:spPr>
          <a:xfrm>
            <a:off x="10933103" y="1258521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動作按鈕: 上一項 72">
            <a:hlinkClick r:id="" action="ppaction://hlinkshowjump?jump=previousslide" highlightClick="1"/>
          </p:cNvPr>
          <p:cNvSpPr/>
          <p:nvPr/>
        </p:nvSpPr>
        <p:spPr>
          <a:xfrm>
            <a:off x="10749150" y="1258521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7" name="圖片 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25647" y="1250447"/>
            <a:ext cx="161103" cy="176446"/>
          </a:xfrm>
          <a:prstGeom prst="rect">
            <a:avLst/>
          </a:prstGeom>
        </p:spPr>
      </p:pic>
      <p:grpSp>
        <p:nvGrpSpPr>
          <p:cNvPr id="53" name="群組 52"/>
          <p:cNvGrpSpPr/>
          <p:nvPr/>
        </p:nvGrpSpPr>
        <p:grpSpPr>
          <a:xfrm>
            <a:off x="7178485" y="2746907"/>
            <a:ext cx="2266766" cy="347377"/>
            <a:chOff x="6404624" y="4304873"/>
            <a:chExt cx="2266766" cy="347377"/>
          </a:xfrm>
        </p:grpSpPr>
        <p:sp>
          <p:nvSpPr>
            <p:cNvPr id="58" name="矩形 57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4" name="圖片 6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65" name="圖片 6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66" name="圖片 6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67" name="圖片 6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74" name="圖片 7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75" name="矩形 74"/>
          <p:cNvSpPr/>
          <p:nvPr/>
        </p:nvSpPr>
        <p:spPr>
          <a:xfrm>
            <a:off x="3873357" y="1566825"/>
            <a:ext cx="7130346" cy="836265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/>
        </p:nvSpPr>
        <p:spPr>
          <a:xfrm>
            <a:off x="3876157" y="2416896"/>
            <a:ext cx="5500557" cy="316204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/>
        </p:nvSpPr>
        <p:spPr>
          <a:xfrm>
            <a:off x="8149920" y="2793584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7" name="表格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14138"/>
              </p:ext>
            </p:extLst>
          </p:nvPr>
        </p:nvGraphicFramePr>
        <p:xfrm>
          <a:off x="762288" y="1937783"/>
          <a:ext cx="2322814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303"/>
                <a:gridCol w="2013511"/>
              </a:tblGrid>
              <a:tr h="241151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金剛般若經疏論纂要（唐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宗密）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407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字詞典、百科類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9" name="圓角矩形圖說文字 68"/>
          <p:cNvSpPr/>
          <p:nvPr/>
        </p:nvSpPr>
        <p:spPr>
          <a:xfrm>
            <a:off x="296111" y="2014914"/>
            <a:ext cx="355465" cy="1873174"/>
          </a:xfrm>
          <a:prstGeom prst="wedgeRoundRectCallout">
            <a:avLst>
              <a:gd name="adj1" fmla="val 49114"/>
              <a:gd name="adj2" fmla="val -3529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資料來源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graphicFrame>
        <p:nvGraphicFramePr>
          <p:cNvPr id="70" name="表格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888487"/>
              </p:ext>
            </p:extLst>
          </p:nvPr>
        </p:nvGraphicFramePr>
        <p:xfrm>
          <a:off x="3806955" y="3856192"/>
          <a:ext cx="7813117" cy="2652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3796"/>
                <a:gridCol w="349321"/>
              </a:tblGrid>
              <a:tr h="36663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金剛般若經疏論纂要（唐</a:t>
                      </a:r>
                      <a:r>
                        <a:rPr lang="en-US" altLang="zh-TW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宗密）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25491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謂信、聞、時、主、處、眾，六緣不具教則不興，必須具六故云成就。一、信，若兼我聞合釋，則指法之辭也。如是之法，我從佛聞。單釋如是者，</a:t>
                      </a:r>
                      <a:r>
                        <a:rPr lang="en-US" altLang="zh-TW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《</a:t>
                      </a:r>
                      <a:r>
                        <a:rPr lang="zh-TW" alt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智度論</a:t>
                      </a:r>
                      <a:r>
                        <a:rPr lang="en-US" altLang="zh-TW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》</a:t>
                      </a:r>
                      <a:r>
                        <a:rPr lang="zh-TW" alt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云：「信成就也。佛法大海，信為能入智為能度，信者言</a:t>
                      </a:r>
                      <a:r>
                        <a:rPr lang="en-US" altLang="zh-TW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『</a:t>
                      </a:r>
                      <a:r>
                        <a:rPr lang="zh-TW" alt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是事如是</a:t>
                      </a:r>
                      <a:r>
                        <a:rPr lang="en-US" altLang="zh-TW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』</a:t>
                      </a:r>
                      <a:r>
                        <a:rPr lang="zh-TW" alt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。不信者言</a:t>
                      </a:r>
                      <a:r>
                        <a:rPr lang="en-US" altLang="zh-TW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『</a:t>
                      </a:r>
                      <a:r>
                        <a:rPr lang="zh-TW" alt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是事不如是</a:t>
                      </a:r>
                      <a:r>
                        <a:rPr lang="en-US" altLang="zh-TW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』</a:t>
                      </a:r>
                      <a:r>
                        <a:rPr lang="zh-TW" alt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。又聖人說法，但為顯如。唯如為是故稱如是，又有無不二為如如，非有無為是。</a:t>
                      </a:r>
                      <a:r>
                        <a:rPr lang="zh-TW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二聞我即阿難五蘊假者，聞謂耳根發識，廢別從總故云我聞。阿難所不聞二十年前之經，有云如來重說。</a:t>
                      </a:r>
                      <a:endParaRPr lang="en-US" altLang="zh-TW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8" name="動作按鈕: 下一項 87">
            <a:hlinkClick r:id="" action="ppaction://hlinkshowjump?jump=nextslide" highlightClick="1"/>
          </p:cNvPr>
          <p:cNvSpPr/>
          <p:nvPr/>
        </p:nvSpPr>
        <p:spPr>
          <a:xfrm>
            <a:off x="11003702" y="3952157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動作按鈕: 上一項 105">
            <a:hlinkClick r:id="" action="ppaction://hlinkshowjump?jump=previousslide" highlightClick="1"/>
          </p:cNvPr>
          <p:cNvSpPr/>
          <p:nvPr/>
        </p:nvSpPr>
        <p:spPr>
          <a:xfrm>
            <a:off x="10819749" y="3952157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7" name="圖片 1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86671" y="3920261"/>
            <a:ext cx="161103" cy="176446"/>
          </a:xfrm>
          <a:prstGeom prst="rect">
            <a:avLst/>
          </a:prstGeom>
        </p:spPr>
      </p:pic>
      <p:pic>
        <p:nvPicPr>
          <p:cNvPr id="108" name="圖片 1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453" y="4317048"/>
            <a:ext cx="236641" cy="224809"/>
          </a:xfrm>
          <a:prstGeom prst="rect">
            <a:avLst/>
          </a:prstGeom>
        </p:spPr>
      </p:pic>
      <p:pic>
        <p:nvPicPr>
          <p:cNvPr id="109" name="圖片 1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324585" y="6187472"/>
            <a:ext cx="236641" cy="224809"/>
          </a:xfrm>
          <a:prstGeom prst="rect">
            <a:avLst/>
          </a:prstGeom>
        </p:spPr>
      </p:pic>
      <p:sp>
        <p:nvSpPr>
          <p:cNvPr id="57" name="圓角矩形圖說文字 56"/>
          <p:cNvSpPr/>
          <p:nvPr/>
        </p:nvSpPr>
        <p:spPr>
          <a:xfrm>
            <a:off x="8115879" y="3550838"/>
            <a:ext cx="1657314" cy="423719"/>
          </a:xfrm>
          <a:prstGeom prst="wedgeRoundRectCallout">
            <a:avLst>
              <a:gd name="adj1" fmla="val -38288"/>
              <a:gd name="adj2" fmla="val -16946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64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、情境指涉（１）文本內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41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36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7768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8858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000" y="1565777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356000" y="6069550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7" y="6136199"/>
            <a:ext cx="2598871" cy="115745"/>
          </a:xfrm>
          <a:prstGeom prst="rect">
            <a:avLst/>
          </a:prstGeom>
        </p:spPr>
      </p:pic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972189"/>
              </p:ext>
            </p:extLst>
          </p:nvPr>
        </p:nvGraphicFramePr>
        <p:xfrm>
          <a:off x="709622" y="1710433"/>
          <a:ext cx="2441597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56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鳩摩羅什譯）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467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（唐</a:t>
                      </a:r>
                      <a:r>
                        <a:rPr lang="en-US" altLang="zh-TW" sz="7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玄奘譯）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金剛能斷般若波羅蜜經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（隋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達磨笈多譯）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金剛經（梵文本）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470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金剛經（藏譯本）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3330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金剛經（英譯本）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金剛般若波羅蜜經注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釋僧肇）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吉藏）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智顗）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金剛般若經疏論纂要（唐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宗密）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金剛經註疏（唐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慧淨）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金剛般若經贊述（唐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窺基）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金剛經疏記會編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（明釋大璸疏記科會）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298875"/>
              </p:ext>
            </p:extLst>
          </p:nvPr>
        </p:nvGraphicFramePr>
        <p:xfrm>
          <a:off x="3842534" y="1193944"/>
          <a:ext cx="7885177" cy="522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6713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33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初曰如是者，不異為如，無非曰是。凡人相信，則曰如是。不信，必曰不如是。今結集者一啟口而鄭重言之曰如是，所以明其言言如佛所說，辭義無謬也，（校也，舊版無。據原稿補。）則足以信今而傳後矣，故曰信成就也。華嚴經曰：信為道元（校元，舊版作源，經及原稿作元。）功德母，長養一切諸善法。信乃入道初門，故列在最初。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圖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631" y="1678182"/>
            <a:ext cx="236641" cy="224809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61888"/>
            <a:ext cx="236641" cy="224809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0" y="0"/>
            <a:ext cx="651577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 smtClean="0"/>
              <a:t>首頁</a:t>
            </a:r>
            <a:endParaRPr lang="zh-TW" altLang="en-US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36</a:t>
            </a:fld>
            <a:endParaRPr lang="zh-TW" altLang="en-US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848" y="1291927"/>
            <a:ext cx="161103" cy="176446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3348424" y="1796455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44" name="文字方塊 43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46" name="群組 45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61" name="圖片 6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62" name="矩形 61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48" name="群組 47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59" name="圖片 5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60" name="矩形 59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49" name="群組 48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56" name="圖片 5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57" name="矩形 56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50" name="群組 49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55" name="圖片 5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51" name="群組 50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53" name="圖片 5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63" name="動作按鈕: 下一項 62">
            <a:hlinkClick r:id="" action="ppaction://hlinkshowjump?jump=nextslide" highlightClick="1"/>
          </p:cNvPr>
          <p:cNvSpPr/>
          <p:nvPr/>
        </p:nvSpPr>
        <p:spPr>
          <a:xfrm>
            <a:off x="11115656" y="130143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動作按鈕: 上一項 63">
            <a:hlinkClick r:id="" action="ppaction://hlinkshowjump?jump=previousslide" highlightClick="1"/>
          </p:cNvPr>
          <p:cNvSpPr/>
          <p:nvPr/>
        </p:nvSpPr>
        <p:spPr>
          <a:xfrm>
            <a:off x="10931703" y="130143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圓角矩形圖說文字 46"/>
          <p:cNvSpPr/>
          <p:nvPr/>
        </p:nvSpPr>
        <p:spPr>
          <a:xfrm>
            <a:off x="154341" y="5253890"/>
            <a:ext cx="355465" cy="1032808"/>
          </a:xfrm>
          <a:prstGeom prst="wedgeRoundRectCallout">
            <a:avLst>
              <a:gd name="adj1" fmla="val 127152"/>
              <a:gd name="adj2" fmla="val -14025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註釋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9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37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6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68717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43221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55063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705" y="1598871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25052" y="612998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20752" y="6170951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4089" y="343705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57" name="矩形 56"/>
          <p:cNvSpPr/>
          <p:nvPr/>
        </p:nvSpPr>
        <p:spPr>
          <a:xfrm>
            <a:off x="-1" y="0"/>
            <a:ext cx="1733108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情境指涉１文本內</a:t>
            </a:r>
            <a:endParaRPr lang="zh-TW" altLang="en-US" sz="1400" dirty="0"/>
          </a:p>
        </p:txBody>
      </p:sp>
      <p:graphicFrame>
        <p:nvGraphicFramePr>
          <p:cNvPr id="59" name="表格 58"/>
          <p:cNvGraphicFramePr>
            <a:graphicFrameLocks noGrp="1"/>
          </p:cNvGraphicFramePr>
          <p:nvPr>
            <p:extLst/>
          </p:nvPr>
        </p:nvGraphicFramePr>
        <p:xfrm>
          <a:off x="3842534" y="1193944"/>
          <a:ext cx="7885177" cy="522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6713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33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初曰如是者，不異為如，無非曰是。凡人相信，則曰如是。不信，必曰不如是。今結集者一啟口而鄭重言之曰如是，所以明其言言如佛所說，辭義無謬也，（校也，舊版無。據原稿補。）則足以信今而傳後矣，故曰信成就也。華嚴經曰：信為道元（校元，舊版作源，經及原稿作元。）功德母，長養一切諸善法。信乃入道初門，故列在最初。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" name="矩形 59"/>
          <p:cNvSpPr/>
          <p:nvPr/>
        </p:nvSpPr>
        <p:spPr>
          <a:xfrm>
            <a:off x="6226139" y="2826500"/>
            <a:ext cx="5157266" cy="276296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/>
        </p:nvSpPr>
        <p:spPr>
          <a:xfrm>
            <a:off x="3782016" y="3102796"/>
            <a:ext cx="7601389" cy="1099334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/>
        </p:nvSpPr>
        <p:spPr>
          <a:xfrm>
            <a:off x="3872789" y="4202130"/>
            <a:ext cx="6730141" cy="349322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8" name="圖片 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631" y="1722363"/>
            <a:ext cx="236641" cy="224809"/>
          </a:xfrm>
          <a:prstGeom prst="rect">
            <a:avLst/>
          </a:prstGeom>
        </p:spPr>
      </p:pic>
      <p:pic>
        <p:nvPicPr>
          <p:cNvPr id="79" name="圖片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106069"/>
            <a:ext cx="236641" cy="224809"/>
          </a:xfrm>
          <a:prstGeom prst="rect">
            <a:avLst/>
          </a:prstGeom>
        </p:spPr>
      </p:pic>
      <p:pic>
        <p:nvPicPr>
          <p:cNvPr id="80" name="圖片 7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04848" y="1291927"/>
            <a:ext cx="161103" cy="176446"/>
          </a:xfrm>
          <a:prstGeom prst="rect">
            <a:avLst/>
          </a:prstGeom>
        </p:spPr>
      </p:pic>
      <p:sp>
        <p:nvSpPr>
          <p:cNvPr id="81" name="動作按鈕: 下一項 80">
            <a:hlinkClick r:id="" action="ppaction://hlinkshowjump?jump=nextslide" highlightClick="1"/>
          </p:cNvPr>
          <p:cNvSpPr/>
          <p:nvPr/>
        </p:nvSpPr>
        <p:spPr>
          <a:xfrm>
            <a:off x="11115656" y="130143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動作按鈕: 上一項 81">
            <a:hlinkClick r:id="" action="ppaction://hlinkshowjump?jump=previousslide" highlightClick="1"/>
          </p:cNvPr>
          <p:cNvSpPr/>
          <p:nvPr/>
        </p:nvSpPr>
        <p:spPr>
          <a:xfrm>
            <a:off x="10931703" y="130143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0" name="群組 109"/>
          <p:cNvGrpSpPr/>
          <p:nvPr/>
        </p:nvGrpSpPr>
        <p:grpSpPr>
          <a:xfrm>
            <a:off x="8020966" y="4551452"/>
            <a:ext cx="2266766" cy="347377"/>
            <a:chOff x="6404624" y="4304873"/>
            <a:chExt cx="2266766" cy="347377"/>
          </a:xfrm>
        </p:grpSpPr>
        <p:sp>
          <p:nvSpPr>
            <p:cNvPr id="111" name="矩形 110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12" name="圖片 1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113" name="圖片 11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114" name="圖片 1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115" name="圖片 11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116" name="圖片 1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118" name="矩形 117"/>
          <p:cNvSpPr/>
          <p:nvPr/>
        </p:nvSpPr>
        <p:spPr>
          <a:xfrm>
            <a:off x="9451618" y="4598129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圓角矩形圖說文字 52"/>
          <p:cNvSpPr/>
          <p:nvPr/>
        </p:nvSpPr>
        <p:spPr>
          <a:xfrm>
            <a:off x="9451618" y="5438926"/>
            <a:ext cx="1657314" cy="423719"/>
          </a:xfrm>
          <a:prstGeom prst="wedgeRoundRectCallout">
            <a:avLst>
              <a:gd name="adj1" fmla="val -38288"/>
              <a:gd name="adj2" fmla="val -16946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668807"/>
              </p:ext>
            </p:extLst>
          </p:nvPr>
        </p:nvGraphicFramePr>
        <p:xfrm>
          <a:off x="721054" y="2009050"/>
          <a:ext cx="244159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38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6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68717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43221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55063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705" y="1598871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25052" y="612998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20752" y="6170951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4089" y="343705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57" name="矩形 56"/>
          <p:cNvSpPr/>
          <p:nvPr/>
        </p:nvSpPr>
        <p:spPr>
          <a:xfrm>
            <a:off x="-1" y="0"/>
            <a:ext cx="1733108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情境指涉１文本內</a:t>
            </a:r>
            <a:endParaRPr lang="zh-TW" altLang="en-US" sz="1400" dirty="0"/>
          </a:p>
        </p:txBody>
      </p:sp>
      <p:pic>
        <p:nvPicPr>
          <p:cNvPr id="79" name="圖片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106069"/>
            <a:ext cx="236641" cy="224809"/>
          </a:xfrm>
          <a:prstGeom prst="rect">
            <a:avLst/>
          </a:prstGeom>
        </p:spPr>
      </p:pic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632803"/>
              </p:ext>
            </p:extLst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algn="l"/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9823"/>
              </p:ext>
            </p:extLst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</a:t>
                      </a:r>
                      <a:endParaRPr lang="zh-TW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6" name="圖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8" name="圖片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64" name="圖片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65" name="圖片 64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336" y="4186409"/>
            <a:ext cx="5185819" cy="2115611"/>
          </a:xfrm>
          <a:prstGeom prst="rect">
            <a:avLst/>
          </a:prstGeom>
        </p:spPr>
      </p:pic>
      <p:pic>
        <p:nvPicPr>
          <p:cNvPr id="66" name="圖片 6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27371" y="1234119"/>
            <a:ext cx="161103" cy="176446"/>
          </a:xfrm>
          <a:prstGeom prst="rect">
            <a:avLst/>
          </a:prstGeom>
        </p:spPr>
      </p:pic>
      <p:sp>
        <p:nvSpPr>
          <p:cNvPr id="67" name="動作按鈕: 下一項 66">
            <a:hlinkClick r:id="" action="ppaction://hlinkshowjump?jump=nextslide" highlightClick="1"/>
          </p:cNvPr>
          <p:cNvSpPr/>
          <p:nvPr/>
        </p:nvSpPr>
        <p:spPr>
          <a:xfrm>
            <a:off x="11138179" y="1243627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動作按鈕: 上一項 67">
            <a:hlinkClick r:id="" action="ppaction://hlinkshowjump?jump=previousslide" highlightClick="1"/>
          </p:cNvPr>
          <p:cNvSpPr/>
          <p:nvPr/>
        </p:nvSpPr>
        <p:spPr>
          <a:xfrm>
            <a:off x="10954226" y="1243627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9" name="圖片 6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87041" y="3819370"/>
            <a:ext cx="161103" cy="176446"/>
          </a:xfrm>
          <a:prstGeom prst="rect">
            <a:avLst/>
          </a:prstGeom>
        </p:spPr>
      </p:pic>
      <p:sp>
        <p:nvSpPr>
          <p:cNvPr id="70" name="動作按鈕: 下一項 69">
            <a:hlinkClick r:id="" action="ppaction://hlinkshowjump?jump=nextslide" highlightClick="1"/>
          </p:cNvPr>
          <p:cNvSpPr/>
          <p:nvPr/>
        </p:nvSpPr>
        <p:spPr>
          <a:xfrm>
            <a:off x="11197849" y="3828878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動作按鈕: 上一項 70">
            <a:hlinkClick r:id="" action="ppaction://hlinkshowjump?jump=previousslide" highlightClick="1"/>
          </p:cNvPr>
          <p:cNvSpPr/>
          <p:nvPr/>
        </p:nvSpPr>
        <p:spPr>
          <a:xfrm>
            <a:off x="11013896" y="3828878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6087215" y="2253689"/>
            <a:ext cx="5254472" cy="276296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3924728" y="2529985"/>
            <a:ext cx="7416959" cy="1099334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5" name="群組 74"/>
          <p:cNvGrpSpPr/>
          <p:nvPr/>
        </p:nvGrpSpPr>
        <p:grpSpPr>
          <a:xfrm>
            <a:off x="8649454" y="4674742"/>
            <a:ext cx="2266766" cy="347377"/>
            <a:chOff x="6404624" y="4304873"/>
            <a:chExt cx="2266766" cy="347377"/>
          </a:xfrm>
        </p:grpSpPr>
        <p:sp>
          <p:nvSpPr>
            <p:cNvPr id="76" name="矩形 75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77" name="圖片 7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84" name="圖片 8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85" name="圖片 8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86" name="圖片 8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87" name="圖片 8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88" name="矩形 87"/>
          <p:cNvSpPr/>
          <p:nvPr/>
        </p:nvSpPr>
        <p:spPr>
          <a:xfrm>
            <a:off x="9132018" y="4750827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矩形 105"/>
          <p:cNvSpPr/>
          <p:nvPr/>
        </p:nvSpPr>
        <p:spPr>
          <a:xfrm>
            <a:off x="7401908" y="4750826"/>
            <a:ext cx="1180324" cy="253009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圓角矩形圖說文字 58"/>
          <p:cNvSpPr/>
          <p:nvPr/>
        </p:nvSpPr>
        <p:spPr>
          <a:xfrm>
            <a:off x="9015199" y="5298592"/>
            <a:ext cx="1657314" cy="423719"/>
          </a:xfrm>
          <a:prstGeom prst="wedgeRoundRectCallout">
            <a:avLst>
              <a:gd name="adj1" fmla="val -32709"/>
              <a:gd name="adj2" fmla="val -125817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graphicFrame>
        <p:nvGraphicFramePr>
          <p:cNvPr id="60" name="表格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95048"/>
              </p:ext>
            </p:extLst>
          </p:nvPr>
        </p:nvGraphicFramePr>
        <p:xfrm>
          <a:off x="721054" y="2009050"/>
          <a:ext cx="244159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86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70014"/>
              </p:ext>
            </p:extLst>
          </p:nvPr>
        </p:nvGraphicFramePr>
        <p:xfrm>
          <a:off x="517451" y="1174893"/>
          <a:ext cx="2863702" cy="54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974"/>
                <a:gridCol w="329728"/>
              </a:tblGrid>
              <a:tr h="298149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94016">
                <a:tc>
                  <a:txBody>
                    <a:bodyPr/>
                    <a:lstStyle/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217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838387"/>
              </p:ext>
            </p:extLst>
          </p:nvPr>
        </p:nvGraphicFramePr>
        <p:xfrm>
          <a:off x="3560115" y="1169624"/>
          <a:ext cx="82189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2177"/>
                <a:gridCol w="376791"/>
              </a:tblGrid>
              <a:tr h="23195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6871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1200" dirty="0" smtClean="0"/>
                        <a:t>此證信序，又名通序，諸經通有故；亦名經後序，佛初說經，本無此序，至結集時始加入故；亦名遺教序，佛將涅槃，阿難尊者欽奉遺命，一切經首當置如是我聞，一時佛在某處，與某大眾若干人俱，等語故。命置如是云云者，證明是佛所說，以起信故。故曰證信序也。大智度論，謂此科之文為六成就。蓋凡結集一經，必具六緣乃克成就。云何六緣？一者，如是，信成就也。二者，我聞，聞成就也。三者，一時，時成就也。四者，佛，主成就也。五者，在某處，處成就也。六者，與比丘眾若干人俱，眾成就也。六緣既具，則說法之主，說法之時，說法之處，聞法之眾，及結集人負責證明自所親聞，凡足以成就眾信者一一皆備，故曰六成就也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58" y="1585105"/>
            <a:ext cx="236641" cy="224809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1550656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110402" y="6311684"/>
            <a:ext cx="236641" cy="224809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9" y="6334361"/>
            <a:ext cx="2223863" cy="205483"/>
          </a:xfrm>
          <a:prstGeom prst="rect">
            <a:avLst/>
          </a:prstGeom>
        </p:spPr>
      </p:pic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012084"/>
              </p:ext>
            </p:extLst>
          </p:nvPr>
        </p:nvGraphicFramePr>
        <p:xfrm>
          <a:off x="3546654" y="3272139"/>
          <a:ext cx="8218968" cy="1675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2177"/>
                <a:gridCol w="376791"/>
              </a:tblGrid>
              <a:tr h="316193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135886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altLang="zh-TW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816777"/>
              </p:ext>
            </p:extLst>
          </p:nvPr>
        </p:nvGraphicFramePr>
        <p:xfrm>
          <a:off x="3546654" y="5025481"/>
          <a:ext cx="8218968" cy="1675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2177"/>
                <a:gridCol w="376791"/>
              </a:tblGrid>
              <a:tr h="316193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35886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我聞者，我，阿難自稱。特稱我者，負責之詞。且以明其自耳親聞而非傳述。上承如是，下復詳列同聞之眾，又以明其亦非私聞也。則如是如是，信而有徵。故曰聞成就也。</a:t>
                      </a:r>
                      <a:endParaRPr lang="en-US" altLang="zh-TW" sz="1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5" name="圖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5366707"/>
            <a:ext cx="236641" cy="224809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9403" y="6414426"/>
            <a:ext cx="236641" cy="224809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3713126"/>
            <a:ext cx="236641" cy="224809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580" y="4648441"/>
            <a:ext cx="236641" cy="224809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2864416"/>
            <a:ext cx="236641" cy="224809"/>
          </a:xfrm>
          <a:prstGeom prst="rect">
            <a:avLst/>
          </a:prstGeom>
        </p:spPr>
      </p:pic>
      <p:pic>
        <p:nvPicPr>
          <p:cNvPr id="37" name="圖片 3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733" y="3617844"/>
            <a:ext cx="3004627" cy="1255406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7001862" y="3998537"/>
            <a:ext cx="657283" cy="59895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072355"/>
              </p:ext>
            </p:extLst>
          </p:nvPr>
        </p:nvGraphicFramePr>
        <p:xfrm>
          <a:off x="602364" y="1550656"/>
          <a:ext cx="237896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79"/>
                <a:gridCol w="2062182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3" name="矩形 42"/>
          <p:cNvSpPr/>
          <p:nvPr/>
        </p:nvSpPr>
        <p:spPr>
          <a:xfrm>
            <a:off x="6113124" y="2299336"/>
            <a:ext cx="1546021" cy="276296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/>
          <p:cNvSpPr/>
          <p:nvPr/>
        </p:nvSpPr>
        <p:spPr>
          <a:xfrm>
            <a:off x="-1" y="0"/>
            <a:ext cx="1733108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情境指涉１文本內</a:t>
            </a:r>
            <a:endParaRPr lang="zh-TW" altLang="en-US" sz="14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39</a:t>
            </a:fld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473844" y="575726"/>
            <a:ext cx="1117446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zh-TW" altLang="en-US" sz="1400" dirty="0"/>
          </a:p>
        </p:txBody>
      </p:sp>
      <p:grpSp>
        <p:nvGrpSpPr>
          <p:cNvPr id="41" name="群組 40"/>
          <p:cNvGrpSpPr/>
          <p:nvPr/>
        </p:nvGrpSpPr>
        <p:grpSpPr>
          <a:xfrm>
            <a:off x="4330242" y="619294"/>
            <a:ext cx="1150439" cy="276999"/>
            <a:chOff x="5321434" y="607501"/>
            <a:chExt cx="1150439" cy="276999"/>
          </a:xfrm>
        </p:grpSpPr>
        <p:pic>
          <p:nvPicPr>
            <p:cNvPr id="42" name="圖片 4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1434" y="632553"/>
              <a:ext cx="255643" cy="228113"/>
            </a:xfrm>
            <a:prstGeom prst="rect">
              <a:avLst/>
            </a:prstGeom>
          </p:spPr>
        </p:pic>
        <p:sp>
          <p:nvSpPr>
            <p:cNvPr id="44" name="矩形 43"/>
            <p:cNvSpPr/>
            <p:nvPr/>
          </p:nvSpPr>
          <p:spPr>
            <a:xfrm>
              <a:off x="5671654" y="607501"/>
              <a:ext cx="80021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  <a:effectLst>
              <a:softEdge rad="63500"/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zh-TW" altLang="en-US" sz="1200" dirty="0">
                  <a:solidFill>
                    <a:schemeClr val="tx1"/>
                  </a:solidFill>
                </a:rPr>
                <a:t>內容架構</a:t>
              </a: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8271413" y="589331"/>
            <a:ext cx="1024987" cy="283128"/>
            <a:chOff x="8045710" y="152643"/>
            <a:chExt cx="1024987" cy="283128"/>
          </a:xfrm>
        </p:grpSpPr>
        <p:pic>
          <p:nvPicPr>
            <p:cNvPr id="47" name="圖片 4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45710" y="181095"/>
              <a:ext cx="246959" cy="254676"/>
            </a:xfrm>
            <a:prstGeom prst="rect">
              <a:avLst/>
            </a:prstGeom>
          </p:spPr>
        </p:pic>
        <p:sp>
          <p:nvSpPr>
            <p:cNvPr id="49" name="矩形 48"/>
            <p:cNvSpPr/>
            <p:nvPr/>
          </p:nvSpPr>
          <p:spPr>
            <a:xfrm>
              <a:off x="8270478" y="152643"/>
              <a:ext cx="800219" cy="276999"/>
            </a:xfrm>
            <a:prstGeom prst="rect">
              <a:avLst/>
            </a:prstGeom>
            <a:solidFill>
              <a:srgbClr val="92D050"/>
            </a:solidFill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r>
                <a:rPr lang="zh-TW" altLang="en-US" sz="1200" dirty="0"/>
                <a:t>情境指涉</a:t>
              </a: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9540449" y="595460"/>
            <a:ext cx="994865" cy="277598"/>
            <a:chOff x="9620506" y="139496"/>
            <a:chExt cx="994865" cy="277598"/>
          </a:xfrm>
        </p:grpSpPr>
        <p:pic>
          <p:nvPicPr>
            <p:cNvPr id="51" name="圖片 5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20506" y="161819"/>
              <a:ext cx="242388" cy="255275"/>
            </a:xfrm>
            <a:prstGeom prst="rect">
              <a:avLst/>
            </a:prstGeom>
          </p:spPr>
        </p:pic>
        <p:sp>
          <p:nvSpPr>
            <p:cNvPr id="52" name="矩形 51"/>
            <p:cNvSpPr/>
            <p:nvPr/>
          </p:nvSpPr>
          <p:spPr>
            <a:xfrm>
              <a:off x="9815152" y="139496"/>
              <a:ext cx="80021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r>
                <a:rPr lang="zh-TW" altLang="en-US" sz="1200" dirty="0"/>
                <a:t>文義思考</a:t>
              </a:r>
              <a:endParaRPr lang="en-US" altLang="zh-TW" sz="1200" dirty="0"/>
            </a:p>
          </p:txBody>
        </p:sp>
      </p:grp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816268"/>
              </p:ext>
            </p:extLst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4" name="圖片 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grpSp>
        <p:nvGrpSpPr>
          <p:cNvPr id="55" name="群組 54"/>
          <p:cNvGrpSpPr/>
          <p:nvPr/>
        </p:nvGrpSpPr>
        <p:grpSpPr>
          <a:xfrm>
            <a:off x="5838051" y="606036"/>
            <a:ext cx="1049036" cy="276999"/>
            <a:chOff x="5838051" y="606036"/>
            <a:chExt cx="1049036" cy="276999"/>
          </a:xfrm>
        </p:grpSpPr>
        <p:sp>
          <p:nvSpPr>
            <p:cNvPr id="56" name="矩形 55"/>
            <p:cNvSpPr/>
            <p:nvPr/>
          </p:nvSpPr>
          <p:spPr>
            <a:xfrm>
              <a:off x="6051602" y="606036"/>
              <a:ext cx="835485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r>
                <a:rPr lang="zh-TW" altLang="en-US" sz="1200" dirty="0"/>
                <a:t>互為文本 </a:t>
              </a:r>
            </a:p>
          </p:txBody>
        </p:sp>
        <p:pic>
          <p:nvPicPr>
            <p:cNvPr id="57" name="圖片 5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38051" y="626004"/>
              <a:ext cx="220577" cy="241923"/>
            </a:xfrm>
            <a:prstGeom prst="rect">
              <a:avLst/>
            </a:prstGeom>
          </p:spPr>
        </p:pic>
      </p:grpSp>
      <p:grpSp>
        <p:nvGrpSpPr>
          <p:cNvPr id="58" name="群組 57"/>
          <p:cNvGrpSpPr/>
          <p:nvPr/>
        </p:nvGrpSpPr>
        <p:grpSpPr>
          <a:xfrm>
            <a:off x="7111855" y="595460"/>
            <a:ext cx="928425" cy="276999"/>
            <a:chOff x="7111855" y="595460"/>
            <a:chExt cx="928425" cy="276999"/>
          </a:xfrm>
        </p:grpSpPr>
        <p:sp>
          <p:nvSpPr>
            <p:cNvPr id="59" name="矩形 58"/>
            <p:cNvSpPr/>
            <p:nvPr/>
          </p:nvSpPr>
          <p:spPr>
            <a:xfrm>
              <a:off x="7240061" y="595460"/>
              <a:ext cx="80021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softEdge rad="63500"/>
            </a:effectLst>
          </p:spPr>
          <p:txBody>
            <a:bodyPr wrap="none">
              <a:spAutoFit/>
            </a:bodyPr>
            <a:lstStyle/>
            <a:p>
              <a:r>
                <a:rPr lang="zh-TW" altLang="en-US" sz="1200" dirty="0"/>
                <a:t>字詞釋義</a:t>
              </a:r>
            </a:p>
          </p:txBody>
        </p:sp>
        <p:pic>
          <p:nvPicPr>
            <p:cNvPr id="60" name="圖片 5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11855" y="644671"/>
              <a:ext cx="193207" cy="213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595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四、情境指涉（２）跨文本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72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36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7768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8858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000" y="1565777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356000" y="6069550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7" y="6136199"/>
            <a:ext cx="2598871" cy="115745"/>
          </a:xfrm>
          <a:prstGeom prst="rect">
            <a:avLst/>
          </a:prstGeom>
        </p:spPr>
      </p:pic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09622" y="1710433"/>
          <a:ext cx="2441597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56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鳩摩羅什譯）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467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（唐</a:t>
                      </a:r>
                      <a:r>
                        <a:rPr lang="en-US" altLang="zh-TW" sz="7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玄奘譯）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金剛能斷般若波羅蜜經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（隋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達磨笈多譯）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金剛經（梵文本）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470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金剛經（藏譯本）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3330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金剛經（英譯本）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金剛般若波羅蜜經注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釋僧肇）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吉藏）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智顗）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金剛般若經疏論纂要（唐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宗密）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金剛經註疏（唐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慧淨）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金剛般若經贊述（唐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窺基）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金剛經疏記會編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（明釋大璸疏記科會）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82536"/>
              </p:ext>
            </p:extLst>
          </p:nvPr>
        </p:nvGraphicFramePr>
        <p:xfrm>
          <a:off x="3842534" y="1193944"/>
          <a:ext cx="7885177" cy="522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6713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33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故止觀云者，止從觀來，觀成自止。何以故？觀成則妄想悉除，便是止故。非以遏捺暗證為止也。總之，定慧二字，互相生起，不能呆板看成兩橛，故曰如車兩輪。又曰即止之觀，即觀之止也。止觀是學佛緊要功夫，如上所說，又是止觀中要緊道理，不可不知。初發心人，何以便稱菩薩摩訶薩？以其能發大心，便有成菩薩摩訶薩之資格，故即以此稱之，一也。佛之稱之者，是令當人直下承當，不要自失勝利，此其二也。世尊平等平等，其視眾生本來同佛，然則稱發無上心者為菩薩摩訶薩又何足異，此其三也。如是，指下正明之文。降伏其心，是令妄想不起，亦是使不覺者覺。上文先問云何住，佛之總示，亦先說應如是住，何故詳談時先說降伏乎？此中要義，當分三層明之。一切眾生，從來不覺，今雖發無上覺心，亦不過發覺初心耳。其不覺之妄習分毫未除，安有真心可住。若以為初發覺時便見真心，即此一念依然是妄想也。故初發心人，其下手祇有降伏。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圖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631" y="1678182"/>
            <a:ext cx="236641" cy="224809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61888"/>
            <a:ext cx="236641" cy="224809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41</a:t>
            </a:fld>
            <a:endParaRPr lang="zh-TW" altLang="en-US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848" y="1291927"/>
            <a:ext cx="161103" cy="176446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3348424" y="1796455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44" name="文字方塊 43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46" name="群組 45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61" name="圖片 6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62" name="矩形 61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48" name="群組 47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59" name="圖片 5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60" name="矩形 59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49" name="群組 48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56" name="圖片 5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57" name="矩形 56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50" name="群組 49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55" name="圖片 5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51" name="群組 50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53" name="圖片 5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63" name="動作按鈕: 下一項 62">
            <a:hlinkClick r:id="" action="ppaction://hlinkshowjump?jump=nextslide" highlightClick="1"/>
          </p:cNvPr>
          <p:cNvSpPr/>
          <p:nvPr/>
        </p:nvSpPr>
        <p:spPr>
          <a:xfrm>
            <a:off x="11115656" y="1301435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動作按鈕: 上一項 63">
            <a:hlinkClick r:id="" action="ppaction://hlinkshowjump?jump=previousslide" highlightClick="1"/>
          </p:cNvPr>
          <p:cNvSpPr/>
          <p:nvPr/>
        </p:nvSpPr>
        <p:spPr>
          <a:xfrm>
            <a:off x="10931703" y="1301435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5747949" y="3886200"/>
            <a:ext cx="2036483" cy="266159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-1" y="0"/>
            <a:ext cx="1733108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情境指涉２跨文本</a:t>
            </a:r>
            <a:endParaRPr lang="zh-TW" altLang="en-US" sz="1400" dirty="0"/>
          </a:p>
        </p:txBody>
      </p:sp>
      <p:grpSp>
        <p:nvGrpSpPr>
          <p:cNvPr id="70" name="群組 69"/>
          <p:cNvGrpSpPr/>
          <p:nvPr/>
        </p:nvGrpSpPr>
        <p:grpSpPr>
          <a:xfrm>
            <a:off x="6797830" y="4152359"/>
            <a:ext cx="2266766" cy="347377"/>
            <a:chOff x="6404624" y="4304873"/>
            <a:chExt cx="2266766" cy="347377"/>
          </a:xfrm>
        </p:grpSpPr>
        <p:sp>
          <p:nvSpPr>
            <p:cNvPr id="73" name="矩形 72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74" name="圖片 7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75" name="圖片 7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76" name="圖片 7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77" name="圖片 7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78" name="圖片 7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79" name="矩形 78"/>
          <p:cNvSpPr/>
          <p:nvPr/>
        </p:nvSpPr>
        <p:spPr>
          <a:xfrm>
            <a:off x="8249207" y="4215668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/>
        </p:nvSpPr>
        <p:spPr>
          <a:xfrm>
            <a:off x="6880075" y="4191155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圓角矩形圖說文字 64"/>
          <p:cNvSpPr/>
          <p:nvPr/>
        </p:nvSpPr>
        <p:spPr>
          <a:xfrm>
            <a:off x="6910721" y="5011711"/>
            <a:ext cx="1657314" cy="423719"/>
          </a:xfrm>
          <a:prstGeom prst="wedgeRoundRectCallout">
            <a:avLst>
              <a:gd name="adj1" fmla="val -38288"/>
              <a:gd name="adj2" fmla="val -16946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612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42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993570"/>
              </p:ext>
            </p:extLst>
          </p:nvPr>
        </p:nvGraphicFramePr>
        <p:xfrm>
          <a:off x="517451" y="1174895"/>
          <a:ext cx="3160697" cy="5179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08501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051447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19955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705" y="1598871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425052" y="612998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20752" y="6170951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334089" y="3437058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pic>
        <p:nvPicPr>
          <p:cNvPr id="79" name="圖片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106069"/>
            <a:ext cx="236641" cy="224809"/>
          </a:xfrm>
          <a:prstGeom prst="rect">
            <a:avLst/>
          </a:prstGeom>
        </p:spPr>
      </p:pic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673752"/>
              </p:ext>
            </p:extLst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……….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「唯然。世尊！願樂欲聞。」佛告須菩提：「諸菩薩摩訶薩應如是降伏其心：</a:t>
                      </a:r>
                      <a:r>
                        <a:rPr lang="zh-TW" altLang="zh-TW" sz="1600" dirty="0" smtClean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『所有一切眾生之類，若卵生、若胎生、若濕生、若化生，若有色、若無色，若有想、若無想、若非有想非無想，我皆令入無餘涅槃而滅度之。』如是滅度無量無數無邊眾生，實無眾生得滅度者。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何以故？須菩提！若菩薩有我相、人相、眾生相、壽者相，即非菩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薩。</a:t>
                      </a:r>
                      <a:endParaRPr lang="en-US" altLang="zh-TW" sz="1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40812"/>
              </p:ext>
            </p:extLst>
          </p:nvPr>
        </p:nvGraphicFramePr>
        <p:xfrm>
          <a:off x="3842534" y="1193945"/>
          <a:ext cx="7885177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故止觀云者，止從觀來，觀成自止。何以故？觀成則妄想悉除，便是止故。非以遏捺暗證為止也。總之，定慧二字，互相生起，不能呆板看成兩橛，故曰如車兩輪。又曰即止之觀，即觀之止也。止觀是學佛緊要功夫，如上所說，又是止觀中要緊道理，不可不知。初發心人，何以便稱菩薩摩訶薩？以其能發大心，便有成菩薩摩訶薩之資格，故即以此稱之，一也。佛之稱之者，是令當人直下承當，不要自失勝利，此其二也。世尊平等平等，其視眾生本來同佛，然則稱發無上心者為菩薩摩訶薩又何足異，此其三也。如是，指下正明之文。降伏其心，是令妄想不起，亦是使不覺者覺。</a:t>
                      </a:r>
                      <a:endParaRPr lang="zh-TW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6" name="圖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8" name="圖片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64" name="圖片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66" name="圖片 6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27371" y="1234119"/>
            <a:ext cx="161103" cy="176446"/>
          </a:xfrm>
          <a:prstGeom prst="rect">
            <a:avLst/>
          </a:prstGeom>
        </p:spPr>
      </p:pic>
      <p:sp>
        <p:nvSpPr>
          <p:cNvPr id="67" name="動作按鈕: 下一項 66">
            <a:hlinkClick r:id="" action="ppaction://hlinkshowjump?jump=nextslide" highlightClick="1"/>
          </p:cNvPr>
          <p:cNvSpPr/>
          <p:nvPr/>
        </p:nvSpPr>
        <p:spPr>
          <a:xfrm>
            <a:off x="11138179" y="1243627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動作按鈕: 上一項 67">
            <a:hlinkClick r:id="" action="ppaction://hlinkshowjump?jump=previousslide" highlightClick="1"/>
          </p:cNvPr>
          <p:cNvSpPr/>
          <p:nvPr/>
        </p:nvSpPr>
        <p:spPr>
          <a:xfrm>
            <a:off x="10954226" y="1243627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9" name="圖片 6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87041" y="3819370"/>
            <a:ext cx="161103" cy="176446"/>
          </a:xfrm>
          <a:prstGeom prst="rect">
            <a:avLst/>
          </a:prstGeom>
        </p:spPr>
      </p:pic>
      <p:sp>
        <p:nvSpPr>
          <p:cNvPr id="70" name="動作按鈕: 下一項 69">
            <a:hlinkClick r:id="" action="ppaction://hlinkshowjump?jump=nextslide" highlightClick="1"/>
          </p:cNvPr>
          <p:cNvSpPr/>
          <p:nvPr/>
        </p:nvSpPr>
        <p:spPr>
          <a:xfrm>
            <a:off x="11197849" y="3828878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動作按鈕: 上一項 70">
            <a:hlinkClick r:id="" action="ppaction://hlinkshowjump?jump=previousslide" highlightClick="1"/>
          </p:cNvPr>
          <p:cNvSpPr/>
          <p:nvPr/>
        </p:nvSpPr>
        <p:spPr>
          <a:xfrm>
            <a:off x="11013896" y="3828878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5661653" y="3043768"/>
            <a:ext cx="2036483" cy="266159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0" name="表格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89700"/>
              </p:ext>
            </p:extLst>
          </p:nvPr>
        </p:nvGraphicFramePr>
        <p:xfrm>
          <a:off x="703693" y="1668864"/>
          <a:ext cx="244159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56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鳩摩羅什譯）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6" name="群組 45"/>
          <p:cNvGrpSpPr/>
          <p:nvPr/>
        </p:nvGrpSpPr>
        <p:grpSpPr>
          <a:xfrm>
            <a:off x="6810470" y="3317242"/>
            <a:ext cx="2266766" cy="347377"/>
            <a:chOff x="6404624" y="4304873"/>
            <a:chExt cx="2266766" cy="347377"/>
          </a:xfrm>
        </p:grpSpPr>
        <p:sp>
          <p:nvSpPr>
            <p:cNvPr id="47" name="矩形 46"/>
            <p:cNvSpPr/>
            <p:nvPr/>
          </p:nvSpPr>
          <p:spPr>
            <a:xfrm>
              <a:off x="6404624" y="4304873"/>
              <a:ext cx="2266766" cy="34737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49" name="圖片 4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53104" y="4369890"/>
              <a:ext cx="246959" cy="254676"/>
            </a:xfrm>
            <a:prstGeom prst="rect">
              <a:avLst/>
            </a:prstGeom>
          </p:spPr>
        </p:pic>
        <p:pic>
          <p:nvPicPr>
            <p:cNvPr id="50" name="圖片 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27718" y="4382643"/>
              <a:ext cx="220577" cy="241923"/>
            </a:xfrm>
            <a:prstGeom prst="rect">
              <a:avLst/>
            </a:prstGeom>
          </p:spPr>
        </p:pic>
        <p:pic>
          <p:nvPicPr>
            <p:cNvPr id="61" name="圖片 6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4726" y="4373882"/>
              <a:ext cx="255643" cy="228113"/>
            </a:xfrm>
            <a:prstGeom prst="rect">
              <a:avLst/>
            </a:prstGeom>
          </p:spPr>
        </p:pic>
        <p:pic>
          <p:nvPicPr>
            <p:cNvPr id="62" name="圖片 6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50665" y="4373882"/>
              <a:ext cx="220585" cy="243877"/>
            </a:xfrm>
            <a:prstGeom prst="rect">
              <a:avLst/>
            </a:prstGeom>
          </p:spPr>
        </p:pic>
        <p:pic>
          <p:nvPicPr>
            <p:cNvPr id="65" name="圖片 6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19797" y="4368182"/>
              <a:ext cx="242388" cy="255275"/>
            </a:xfrm>
            <a:prstGeom prst="rect">
              <a:avLst/>
            </a:prstGeom>
          </p:spPr>
        </p:pic>
      </p:grpSp>
      <p:sp>
        <p:nvSpPr>
          <p:cNvPr id="73" name="矩形 72"/>
          <p:cNvSpPr/>
          <p:nvPr/>
        </p:nvSpPr>
        <p:spPr>
          <a:xfrm>
            <a:off x="8261847" y="3380551"/>
            <a:ext cx="292835" cy="288537"/>
          </a:xfrm>
          <a:prstGeom prst="rect">
            <a:avLst/>
          </a:prstGeom>
          <a:solidFill>
            <a:srgbClr val="92D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圓角矩形圖說文字 74"/>
          <p:cNvSpPr/>
          <p:nvPr/>
        </p:nvSpPr>
        <p:spPr>
          <a:xfrm>
            <a:off x="7483660" y="3907593"/>
            <a:ext cx="2859476" cy="234626"/>
          </a:xfrm>
          <a:prstGeom prst="wedgeRoundRectCallout">
            <a:avLst>
              <a:gd name="adj1" fmla="val -16730"/>
              <a:gd name="adj2" fmla="val -147568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按滑鼠右鍵會出現小工具視窗，可點選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-1" y="0"/>
            <a:ext cx="1733108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情境指涉２跨文本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047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022428"/>
              </p:ext>
            </p:extLst>
          </p:nvPr>
        </p:nvGraphicFramePr>
        <p:xfrm>
          <a:off x="517451" y="1174895"/>
          <a:ext cx="3160697" cy="5186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448628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787497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5802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453" y="1691950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401453" y="6102849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5" y="6236486"/>
            <a:ext cx="2598871" cy="115745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/>
          </p:nvPr>
        </p:nvGraphicFramePr>
        <p:xfrm>
          <a:off x="734423" y="1676420"/>
          <a:ext cx="2441597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金剛般若波羅蜜經（姚秦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鳩摩羅什譯）（昭明太子）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李慧萍增補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)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48161"/>
              </p:ext>
            </p:extLst>
          </p:nvPr>
        </p:nvGraphicFramePr>
        <p:xfrm>
          <a:off x="3843926" y="3753293"/>
          <a:ext cx="7885177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2164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……….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「唯然。世尊！願樂欲聞。」佛告須菩提：「諸菩薩摩訶薩應如是降伏其心：</a:t>
                      </a:r>
                      <a:r>
                        <a:rPr lang="zh-TW" altLang="zh-TW" sz="1600" dirty="0" smtClean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『所有一切眾生之類，若卵生、若胎生、若濕生、若化生，若有色、若無色，若有想、若無想、若非有想非無想，我皆令入無餘涅槃而滅度之。』如是滅度無量無數無邊眾生，實無眾生得滅度者。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何以故？須菩提！若菩薩有我相、人相、眾生相、壽者相，即非菩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薩。</a:t>
                      </a: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271965"/>
              </p:ext>
            </p:extLst>
          </p:nvPr>
        </p:nvGraphicFramePr>
        <p:xfrm>
          <a:off x="3842534" y="1193945"/>
          <a:ext cx="7885177" cy="258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/>
                        <a:t>故止觀云者，止從觀來，觀成自止。何以故？觀成則妄想悉除，便是止故。非以遏捺暗證為止也。總之，定慧二字，互相生起，不能呆板看成兩橛，故曰如車兩輪。又曰即止之觀，即觀之止也。止觀是學佛緊要功夫，如上所說，又是止觀中要緊道理，不可不知。初發心人，何以便稱菩薩摩訶薩？以其能發大心，便有成菩薩摩訶薩之資格，故即以此稱之，一也。佛之稱之者，是令當人直下承當，不要自失勝利，此其二也。世尊平等平等，其視眾生本來同佛，然則稱發無上心者為菩薩摩訶薩又何足異，此其三也。如是，指下正明之文。降伏其心，是令妄想不起，亦是使不覺者覺。</a:t>
                      </a:r>
                      <a:endParaRPr lang="zh-TW" altLang="en-US" sz="1600" dirty="0" smtClean="0"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endParaRPr lang="zh-TW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8" name="圖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1" name="圖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53" name="圖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36833" y="6181953"/>
            <a:ext cx="236641" cy="224809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8569" y="1244614"/>
            <a:ext cx="161103" cy="176446"/>
          </a:xfrm>
          <a:prstGeom prst="rect">
            <a:avLst/>
          </a:prstGeom>
        </p:spPr>
      </p:pic>
      <p:pic>
        <p:nvPicPr>
          <p:cNvPr id="55" name="圖片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603" y="3825489"/>
            <a:ext cx="161103" cy="176446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>
          <a:xfrm>
            <a:off x="-2" y="0"/>
            <a:ext cx="2113809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prstClr val="black"/>
                </a:solidFill>
              </a:rPr>
              <a:t>內容架構</a:t>
            </a:r>
            <a:r>
              <a:rPr lang="en-US" altLang="zh-TW" sz="1400" dirty="0" smtClean="0">
                <a:solidFill>
                  <a:prstClr val="black"/>
                </a:solidFill>
              </a:rPr>
              <a:t>—</a:t>
            </a:r>
            <a:r>
              <a:rPr lang="zh-TW" altLang="en-US" sz="1400" dirty="0" smtClean="0">
                <a:solidFill>
                  <a:prstClr val="black"/>
                </a:solidFill>
              </a:rPr>
              <a:t>科判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363836" y="3441940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7" name="群組 76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78" name="文字方塊 77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79" name="群組 78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92" name="圖片 9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93" name="矩形 92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80" name="群組 79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90" name="圖片 8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91" name="矩形 90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81" name="群組 80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88" name="圖片 87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89" name="矩形 88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82" name="群組 81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87" name="圖片 8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83" name="群組 82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85" name="圖片 84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94" name="動作按鈕: 下一項 93">
            <a:hlinkClick r:id="" action="ppaction://hlinkshowjump?jump=nextslide" highlightClick="1"/>
          </p:cNvPr>
          <p:cNvSpPr/>
          <p:nvPr/>
        </p:nvSpPr>
        <p:spPr>
          <a:xfrm>
            <a:off x="11115656" y="1250703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動作按鈕: 上一項 94">
            <a:hlinkClick r:id="" action="ppaction://hlinkshowjump?jump=previousslide" highlightClick="1"/>
          </p:cNvPr>
          <p:cNvSpPr/>
          <p:nvPr/>
        </p:nvSpPr>
        <p:spPr>
          <a:xfrm>
            <a:off x="10931703" y="1250703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動作按鈕: 下一項 95">
            <a:hlinkClick r:id="" action="ppaction://hlinkshowjump?jump=nextslide" highlightClick="1"/>
          </p:cNvPr>
          <p:cNvSpPr/>
          <p:nvPr/>
        </p:nvSpPr>
        <p:spPr>
          <a:xfrm>
            <a:off x="11115656" y="3816656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動作按鈕: 上一項 96">
            <a:hlinkClick r:id="" action="ppaction://hlinkshowjump?jump=previousslide" highlightClick="1"/>
          </p:cNvPr>
          <p:cNvSpPr/>
          <p:nvPr/>
        </p:nvSpPr>
        <p:spPr>
          <a:xfrm>
            <a:off x="10931703" y="3816656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/>
        </p:nvSpPr>
        <p:spPr>
          <a:xfrm>
            <a:off x="5661653" y="3043768"/>
            <a:ext cx="2036483" cy="266159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393" y="3551507"/>
            <a:ext cx="2669505" cy="2582238"/>
          </a:xfrm>
          <a:prstGeom prst="rect">
            <a:avLst/>
          </a:prstGeom>
        </p:spPr>
      </p:pic>
      <p:sp>
        <p:nvSpPr>
          <p:cNvPr id="57" name="矩形 56"/>
          <p:cNvSpPr/>
          <p:nvPr/>
        </p:nvSpPr>
        <p:spPr>
          <a:xfrm>
            <a:off x="1971571" y="5865570"/>
            <a:ext cx="843548" cy="165359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0" name="直線單箭頭接點 59"/>
          <p:cNvCxnSpPr>
            <a:endCxn id="44" idx="1"/>
          </p:cNvCxnSpPr>
          <p:nvPr/>
        </p:nvCxnSpPr>
        <p:spPr>
          <a:xfrm flipV="1">
            <a:off x="2779167" y="5083859"/>
            <a:ext cx="1064759" cy="833082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02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0575" y="285115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五、文義思考類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6DCD-0602-4580-8872-23549E567236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911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517451" y="1174895"/>
          <a:ext cx="3160697" cy="5236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650"/>
                <a:gridCol w="339047"/>
              </a:tblGrid>
              <a:tr h="377680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8858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000" y="1565777"/>
            <a:ext cx="236641" cy="224809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356000" y="6069550"/>
            <a:ext cx="236641" cy="22480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t="-2" b="51800"/>
          <a:stretch/>
        </p:blipFill>
        <p:spPr>
          <a:xfrm>
            <a:off x="651577" y="6136199"/>
            <a:ext cx="2598871" cy="115745"/>
          </a:xfrm>
          <a:prstGeom prst="rect">
            <a:avLst/>
          </a:prstGeom>
        </p:spPr>
      </p:pic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709622" y="1710433"/>
          <a:ext cx="2441597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233567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056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鳩摩羅什譯）</a:t>
                      </a:r>
                      <a:endParaRPr lang="zh-TW" altLang="en-US" sz="10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4675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能斷金剛般若波羅蜜多經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（唐</a:t>
                      </a:r>
                      <a:r>
                        <a:rPr lang="en-US" altLang="zh-TW" sz="7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700" dirty="0" smtClean="0">
                          <a:latin typeface="+mn-ea"/>
                          <a:ea typeface="+mn-ea"/>
                        </a:rPr>
                        <a:t>玄奘譯）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金剛能斷般若波羅蜜經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（隋</a:t>
                      </a:r>
                      <a:r>
                        <a:rPr lang="en-US" altLang="zh-TW" sz="9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達磨笈多譯）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42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金剛經（梵文本）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64703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金剛經（藏譯本）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3330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金剛經（英譯本）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金剛般若波羅蜜經注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（姚秦</a:t>
                      </a:r>
                      <a:r>
                        <a:rPr lang="en-US" altLang="zh-TW" sz="8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800" dirty="0" smtClean="0">
                          <a:latin typeface="+mn-ea"/>
                          <a:ea typeface="+mn-ea"/>
                        </a:rPr>
                        <a:t>釋僧肇）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吉藏）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金剛般若經疏（隋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智顗）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83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金剛般若經疏論纂要（唐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宗密）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金剛經註疏（唐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慧淨）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金剛般若經贊述（唐</a:t>
                      </a:r>
                      <a:r>
                        <a:rPr lang="en-US" altLang="zh-TW" sz="1000" dirty="0" smtClean="0">
                          <a:latin typeface="+mn-ea"/>
                          <a:ea typeface="+mn-ea"/>
                        </a:rPr>
                        <a:t>‧</a:t>
                      </a: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窺基）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金剛經疏記會編</a:t>
                      </a:r>
                      <a:r>
                        <a:rPr lang="zh-TW" altLang="en-US" sz="900" dirty="0" smtClean="0">
                          <a:latin typeface="+mn-ea"/>
                          <a:ea typeface="+mn-ea"/>
                        </a:rPr>
                        <a:t>（明釋大璸疏記科會）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金剛經講記（釋印順）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3842534" y="1193944"/>
          <a:ext cx="7885177" cy="522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688"/>
                <a:gridCol w="361489"/>
              </a:tblGrid>
              <a:tr h="367139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533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佛在舍衛國祇樹給孤獨園，與大比丘眾千二百五十人俱。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『如來善護念諸菩薩，善付囑諸菩薩。』汝今諦聽，當為汝說。善男子、善女人，發阿耨多羅三藐三菩提心，應如是住，如是降伏其心。」「唯然。世尊！願樂欲聞。」佛告須菩提：「諸菩薩摩訶薩應如是降伏其心：『所有一切眾生之類，若卵生、若胎生、若濕生、若化生，若有色、若無色，若有想、若無想、若非有想非無想，我皆令入無餘涅槃而滅度之。』如是滅度無量無數無邊眾生，實無眾生得滅度者。何以故？須菩提！若菩薩有我相、人相、眾生相、壽者相，即非菩薩。」</a:t>
                      </a:r>
                      <a:endParaRPr lang="zh-TW" altLang="en-US" sz="1600" dirty="0" smtClean="0"/>
                    </a:p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圖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631" y="1678182"/>
            <a:ext cx="236641" cy="224809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447632" y="6061888"/>
            <a:ext cx="236641" cy="224809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0" y="0"/>
            <a:ext cx="651578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首頁</a:t>
            </a:r>
            <a:endParaRPr lang="zh-TW" altLang="en-US" sz="1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45</a:t>
            </a:fld>
            <a:endParaRPr lang="zh-TW" altLang="en-US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" name="圖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332" y="1315858"/>
            <a:ext cx="189442" cy="162023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848" y="1291927"/>
            <a:ext cx="161103" cy="176446"/>
          </a:xfrm>
          <a:prstGeom prst="rect">
            <a:avLst/>
          </a:prstGeom>
        </p:spPr>
      </p:pic>
      <p:grpSp>
        <p:nvGrpSpPr>
          <p:cNvPr id="10" name="群組 9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47" name="文字方塊 46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22" name="群組 21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2" name="圖片 1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21" name="矩形 20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5" name="圖片 1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29" name="矩形 28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38" name="群組 37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9" name="圖片 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35" name="矩形 34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7" name="群組 6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2" name="圖片 1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6" name="群組 5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3348424" y="1796455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19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46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629654"/>
              </p:ext>
            </p:extLst>
          </p:nvPr>
        </p:nvGraphicFramePr>
        <p:xfrm>
          <a:off x="517451" y="1174895"/>
          <a:ext cx="3639879" cy="5256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1535"/>
                <a:gridCol w="308344"/>
              </a:tblGrid>
              <a:tr h="394606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305459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56663">
                <a:tc>
                  <a:txBody>
                    <a:bodyPr/>
                    <a:lstStyle/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802" y="1730963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3871831" y="6106069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844140" y="6167155"/>
            <a:ext cx="2598871" cy="11574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20136"/>
              </p:ext>
            </p:extLst>
          </p:nvPr>
        </p:nvGraphicFramePr>
        <p:xfrm>
          <a:off x="1510301" y="1238816"/>
          <a:ext cx="2476072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2385"/>
                <a:gridCol w="1823687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834214" y="3185885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sp>
        <p:nvSpPr>
          <p:cNvPr id="57" name="矩形 56"/>
          <p:cNvSpPr/>
          <p:nvPr/>
        </p:nvSpPr>
        <p:spPr>
          <a:xfrm>
            <a:off x="-1" y="0"/>
            <a:ext cx="1026789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文義思考</a:t>
            </a:r>
            <a:endParaRPr lang="zh-TW" altLang="en-US" sz="1400" dirty="0"/>
          </a:p>
        </p:txBody>
      </p:sp>
      <p:pic>
        <p:nvPicPr>
          <p:cNvPr id="79" name="圖片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106069"/>
            <a:ext cx="236641" cy="224809"/>
          </a:xfrm>
          <a:prstGeom prst="rect">
            <a:avLst/>
          </a:prstGeom>
        </p:spPr>
      </p:pic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638462"/>
              </p:ext>
            </p:extLst>
          </p:nvPr>
        </p:nvGraphicFramePr>
        <p:xfrm>
          <a:off x="4274288" y="3753293"/>
          <a:ext cx="7454815" cy="266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3056"/>
                <a:gridCol w="341759"/>
              </a:tblGrid>
              <a:tr h="3216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339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chemeClr val="tx1"/>
                          </a:solidFill>
                        </a:rPr>
                        <a:t>次曰我聞者，我，阿難自稱。特稱我者，負責之詞。且以明其自耳親聞而非傳述。上承如是，下復詳列同聞之眾，又以明其亦非私聞也。則如是如是，信而有徵。故曰聞成就也。</a:t>
                      </a:r>
                      <a:r>
                        <a:rPr lang="zh-TW" altLang="en-US" sz="1600" dirty="0" smtClean="0">
                          <a:solidFill>
                            <a:srgbClr val="0000FF"/>
                          </a:solidFill>
                        </a:rPr>
                        <a:t>世尊成道之日，阿難降生。至出家時，佛已說法二十年，因請佛將廿年前說，均為補說。阿難復得法性覺自在三昧，能於定中徹了一切法。故結集法藏，必推阿難，亦是佛所親許。如法華經曰：我與阿難，於空王佛所同時發心，我好精進，遂致作佛；阿難常樂多聞，故持我法藏。是也。結集時，阿難登座，身光如佛。眾疑世尊重起說法，或疑他方佛來，或疑阿難成佛。阿難啟口便曰：如是我聞云云，三疑頓斷。世尊蓋懸知必有此疑，故令一切經首，皆置如是等句耳。</a:t>
                      </a:r>
                      <a:endParaRPr lang="en-US" altLang="zh-TW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418627"/>
              </p:ext>
            </p:extLst>
          </p:nvPr>
        </p:nvGraphicFramePr>
        <p:xfrm>
          <a:off x="4253023" y="1193945"/>
          <a:ext cx="7474688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3199"/>
                <a:gridCol w="361489"/>
              </a:tblGrid>
              <a:tr h="2964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如是我聞。一時，佛在舍衛國祇樹給孤獨園，與大比丘眾千二百五十人俱。</a:t>
                      </a:r>
                      <a:r>
                        <a:rPr lang="zh-TW" altLang="en-US" sz="1600" dirty="0" smtClean="0">
                          <a:latin typeface="+mn-ea"/>
                          <a:ea typeface="+mn-ea"/>
                        </a:rPr>
                        <a:t>爾時，世尊食時，著衣持鉢，入舍衛大城乞食。於其城中，次第乞已，還至本處。飯食訖，收衣鉢，洗足已，敷座而坐。時，長老須菩提在大眾中即從座起，偏袒右肩，右膝著地，合掌恭敬而白佛言：「希有！世尊！如來善護念諸菩薩，善付囑諸菩薩。世尊！善男子、善女人，發阿耨多羅三藐三菩提心，應云何住？云何降伏其心？」佛言：「善哉，善哉！須菩提！如汝所說：</a:t>
                      </a:r>
                      <a:r>
                        <a:rPr lang="en-US" altLang="zh-TW" sz="1600" dirty="0" smtClean="0">
                          <a:latin typeface="+mn-ea"/>
                          <a:ea typeface="+mn-ea"/>
                        </a:rPr>
                        <a:t>『</a:t>
                      </a:r>
                      <a:r>
                        <a:rPr lang="zh-TW" altLang="en-US" sz="1600" dirty="0" smtClean="0">
                          <a:latin typeface="+mn-ea"/>
                          <a:ea typeface="+mn-ea"/>
                        </a:rPr>
                        <a:t>如來善護念諸菩薩，善付囑諸菩薩。</a:t>
                      </a:r>
                      <a:r>
                        <a:rPr lang="en-US" altLang="zh-TW" sz="1600" dirty="0" smtClean="0">
                          <a:latin typeface="+mn-ea"/>
                          <a:ea typeface="+mn-ea"/>
                        </a:rPr>
                        <a:t>』</a:t>
                      </a:r>
                      <a:endParaRPr lang="zh-TW" altLang="en-US" sz="1800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6" name="圖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28" y="1506154"/>
            <a:ext cx="236641" cy="224809"/>
          </a:xfrm>
          <a:prstGeom prst="rect">
            <a:avLst/>
          </a:prstGeom>
        </p:spPr>
      </p:pic>
      <p:pic>
        <p:nvPicPr>
          <p:cNvPr id="58" name="圖片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23580" y="3332074"/>
            <a:ext cx="236641" cy="224809"/>
          </a:xfrm>
          <a:prstGeom prst="rect">
            <a:avLst/>
          </a:prstGeom>
        </p:spPr>
      </p:pic>
      <p:pic>
        <p:nvPicPr>
          <p:cNvPr id="63" name="圖片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580" y="4186411"/>
            <a:ext cx="236641" cy="224809"/>
          </a:xfrm>
          <a:prstGeom prst="rect">
            <a:avLst/>
          </a:prstGeom>
        </p:spPr>
      </p:pic>
      <p:pic>
        <p:nvPicPr>
          <p:cNvPr id="64" name="圖片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47632" y="6012331"/>
            <a:ext cx="236641" cy="224809"/>
          </a:xfrm>
          <a:prstGeom prst="rect">
            <a:avLst/>
          </a:prstGeom>
        </p:spPr>
      </p:pic>
      <p:pic>
        <p:nvPicPr>
          <p:cNvPr id="66" name="圖片 6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27371" y="1234119"/>
            <a:ext cx="161103" cy="176446"/>
          </a:xfrm>
          <a:prstGeom prst="rect">
            <a:avLst/>
          </a:prstGeom>
        </p:spPr>
      </p:pic>
      <p:sp>
        <p:nvSpPr>
          <p:cNvPr id="67" name="動作按鈕: 下一項 66">
            <a:hlinkClick r:id="" action="ppaction://hlinkshowjump?jump=nextslide" highlightClick="1"/>
          </p:cNvPr>
          <p:cNvSpPr/>
          <p:nvPr/>
        </p:nvSpPr>
        <p:spPr>
          <a:xfrm>
            <a:off x="11138179" y="1243627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動作按鈕: 上一項 67">
            <a:hlinkClick r:id="" action="ppaction://hlinkshowjump?jump=previousslide" highlightClick="1"/>
          </p:cNvPr>
          <p:cNvSpPr/>
          <p:nvPr/>
        </p:nvSpPr>
        <p:spPr>
          <a:xfrm>
            <a:off x="10954226" y="1243627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9" name="圖片 6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87041" y="3819370"/>
            <a:ext cx="161103" cy="176446"/>
          </a:xfrm>
          <a:prstGeom prst="rect">
            <a:avLst/>
          </a:prstGeom>
        </p:spPr>
      </p:pic>
      <p:sp>
        <p:nvSpPr>
          <p:cNvPr id="70" name="動作按鈕: 下一項 69">
            <a:hlinkClick r:id="" action="ppaction://hlinkshowjump?jump=nextslide" highlightClick="1"/>
          </p:cNvPr>
          <p:cNvSpPr/>
          <p:nvPr/>
        </p:nvSpPr>
        <p:spPr>
          <a:xfrm>
            <a:off x="11197849" y="3828878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動作按鈕: 上一項 70">
            <a:hlinkClick r:id="" action="ppaction://hlinkshowjump?jump=previousslide" highlightClick="1"/>
          </p:cNvPr>
          <p:cNvSpPr/>
          <p:nvPr/>
        </p:nvSpPr>
        <p:spPr>
          <a:xfrm>
            <a:off x="11013896" y="3828878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123888"/>
              </p:ext>
            </p:extLst>
          </p:nvPr>
        </p:nvGraphicFramePr>
        <p:xfrm>
          <a:off x="1026071" y="1775577"/>
          <a:ext cx="244159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"/>
                <a:gridCol w="2116477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經典類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3843"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註釋類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774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zh-TW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>
                          <a:latin typeface="+mn-ea"/>
                          <a:ea typeface="+mn-ea"/>
                        </a:rPr>
                        <a:t>金剛經講義（江味農）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1" name="圓角矩形圖說文字 60"/>
          <p:cNvSpPr/>
          <p:nvPr/>
        </p:nvSpPr>
        <p:spPr>
          <a:xfrm>
            <a:off x="10343711" y="139247"/>
            <a:ext cx="1174137" cy="278366"/>
          </a:xfrm>
          <a:prstGeom prst="wedgeRoundRectCallout">
            <a:avLst>
              <a:gd name="adj1" fmla="val -67626"/>
              <a:gd name="adj2" fmla="val 111541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 smtClean="0">
                <a:solidFill>
                  <a:srgbClr val="C00000"/>
                </a:solidFill>
                <a:latin typeface="+mn-ea"/>
              </a:rPr>
              <a:t>１按文義思考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sp>
        <p:nvSpPr>
          <p:cNvPr id="65" name="圓角矩形圖說文字 64"/>
          <p:cNvSpPr/>
          <p:nvPr/>
        </p:nvSpPr>
        <p:spPr>
          <a:xfrm>
            <a:off x="222030" y="1962320"/>
            <a:ext cx="355465" cy="1223565"/>
          </a:xfrm>
          <a:prstGeom prst="wedgeRoundRectCallout">
            <a:avLst>
              <a:gd name="adj1" fmla="val 170508"/>
              <a:gd name="adj2" fmla="val -16231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註釋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067" y="3091392"/>
            <a:ext cx="2977266" cy="2543393"/>
          </a:xfrm>
          <a:prstGeom prst="rect">
            <a:avLst/>
          </a:prstGeom>
        </p:spPr>
      </p:pic>
      <p:sp>
        <p:nvSpPr>
          <p:cNvPr id="74" name="矩形 73"/>
          <p:cNvSpPr/>
          <p:nvPr/>
        </p:nvSpPr>
        <p:spPr>
          <a:xfrm>
            <a:off x="844140" y="3332073"/>
            <a:ext cx="421454" cy="88379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5" name="直線單箭頭接點 74"/>
          <p:cNvCxnSpPr/>
          <p:nvPr/>
        </p:nvCxnSpPr>
        <p:spPr>
          <a:xfrm flipH="1">
            <a:off x="1376737" y="1730963"/>
            <a:ext cx="2969233" cy="1639087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1026788" y="4559192"/>
            <a:ext cx="1695147" cy="123240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7" name="直線單箭頭接點 76"/>
          <p:cNvCxnSpPr/>
          <p:nvPr/>
        </p:nvCxnSpPr>
        <p:spPr>
          <a:xfrm>
            <a:off x="2558265" y="4620812"/>
            <a:ext cx="1716023" cy="463047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圓角矩形圖說文字 77"/>
          <p:cNvSpPr/>
          <p:nvPr/>
        </p:nvSpPr>
        <p:spPr>
          <a:xfrm>
            <a:off x="3755420" y="3665746"/>
            <a:ext cx="355465" cy="2188022"/>
          </a:xfrm>
          <a:prstGeom prst="wedgeRoundRectCallout">
            <a:avLst>
              <a:gd name="adj1" fmla="val 46223"/>
              <a:gd name="adj2" fmla="val -2492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</a:rPr>
              <a:t>出現對應經文或解釋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80" name="圓角矩形圖說文字 79"/>
          <p:cNvSpPr/>
          <p:nvPr/>
        </p:nvSpPr>
        <p:spPr>
          <a:xfrm>
            <a:off x="173592" y="4411220"/>
            <a:ext cx="355465" cy="1223565"/>
          </a:xfrm>
          <a:prstGeom prst="wedgeRoundRectCallout">
            <a:avLst>
              <a:gd name="adj1" fmla="val 176289"/>
              <a:gd name="adj2" fmla="val -36384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點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選</a:t>
            </a:r>
            <a:endParaRPr lang="en-US" altLang="zh-TW" sz="1400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zh-TW" altLang="en-US" sz="1400" dirty="0" smtClean="0">
                <a:solidFill>
                  <a:srgbClr val="C00000"/>
                </a:solidFill>
                <a:latin typeface="+mn-ea"/>
              </a:rPr>
              <a:t>問題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62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9296400" y="70803"/>
            <a:ext cx="2743200" cy="365125"/>
          </a:xfrm>
        </p:spPr>
        <p:txBody>
          <a:bodyPr/>
          <a:lstStyle/>
          <a:p>
            <a:fld id="{7FAD6DCD-0602-4580-8872-23549E567236}" type="slidenum">
              <a:rPr lang="zh-TW" altLang="en-US" smtClean="0"/>
              <a:t>47</a:t>
            </a:fld>
            <a:endParaRPr lang="zh-TW" altLang="en-US"/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/>
          </p:nvPr>
        </p:nvGraphicFramePr>
        <p:xfrm>
          <a:off x="567070" y="606036"/>
          <a:ext cx="2584489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55674"/>
                <a:gridCol w="1928815"/>
              </a:tblGrid>
              <a:tr h="231680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經名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金剛經</a:t>
                      </a:r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2" name="圖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60" y="621738"/>
            <a:ext cx="189442" cy="162023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"/>
          <a:stretch/>
        </p:blipFill>
        <p:spPr>
          <a:xfrm>
            <a:off x="11259494" y="606036"/>
            <a:ext cx="328980" cy="260294"/>
          </a:xfrm>
          <a:prstGeom prst="rect">
            <a:avLst/>
          </a:prstGeom>
        </p:spPr>
      </p:pic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410749"/>
              </p:ext>
            </p:extLst>
          </p:nvPr>
        </p:nvGraphicFramePr>
        <p:xfrm>
          <a:off x="517451" y="1174895"/>
          <a:ext cx="4841358" cy="5267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749"/>
                <a:gridCol w="329609"/>
              </a:tblGrid>
              <a:tr h="495751">
                <a:tc gridSpan="2">
                  <a:txBody>
                    <a:bodyPr/>
                    <a:lstStyle/>
                    <a:p>
                      <a:pPr algn="l"/>
                      <a:r>
                        <a:rPr lang="zh-TW" altLang="en-US" sz="1050" b="0" dirty="0" smtClean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檢索結果</a:t>
                      </a:r>
                      <a:endParaRPr lang="zh-TW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771251">
                <a:tc>
                  <a:txBody>
                    <a:bodyPr/>
                    <a:lstStyle/>
                    <a:p>
                      <a:pPr algn="l"/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en-US" altLang="zh-TW" sz="1050" dirty="0" smtClean="0"/>
                    </a:p>
                    <a:p>
                      <a:pPr algn="l"/>
                      <a:endParaRPr lang="zh-TW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973" y="1770574"/>
            <a:ext cx="236641" cy="224809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080571" y="6174291"/>
            <a:ext cx="236641" cy="224809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/>
          <a:srcRect t="-2" b="51800"/>
          <a:stretch/>
        </p:blipFill>
        <p:spPr>
          <a:xfrm>
            <a:off x="620752" y="6144127"/>
            <a:ext cx="4248960" cy="189235"/>
          </a:xfrm>
          <a:prstGeom prst="rect">
            <a:avLst/>
          </a:prstGeom>
        </p:spPr>
      </p:pic>
      <p:graphicFrame>
        <p:nvGraphicFramePr>
          <p:cNvPr id="51" name="表格 50"/>
          <p:cNvGraphicFramePr>
            <a:graphicFrameLocks noGrp="1"/>
          </p:cNvGraphicFramePr>
          <p:nvPr>
            <p:extLst/>
          </p:nvPr>
        </p:nvGraphicFramePr>
        <p:xfrm>
          <a:off x="1577081" y="1238816"/>
          <a:ext cx="2015560" cy="259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31051"/>
                <a:gridCol w="1484509"/>
              </a:tblGrid>
              <a:tr h="209637">
                <a:tc>
                  <a:txBody>
                    <a:bodyPr/>
                    <a:lstStyle/>
                    <a:p>
                      <a:r>
                        <a:rPr lang="zh-TW" altLang="en-US" sz="1100" b="0" dirty="0" smtClean="0">
                          <a:solidFill>
                            <a:schemeClr val="tx1"/>
                          </a:solidFill>
                        </a:rPr>
                        <a:t>內文</a:t>
                      </a:r>
                      <a:endParaRPr lang="zh-TW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2" name="圖片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31" y="1291927"/>
            <a:ext cx="189442" cy="162023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3967265" y="2499437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9" name="群組 88"/>
          <p:cNvGrpSpPr/>
          <p:nvPr/>
        </p:nvGrpSpPr>
        <p:grpSpPr>
          <a:xfrm>
            <a:off x="473844" y="575726"/>
            <a:ext cx="11174467" cy="320567"/>
            <a:chOff x="473844" y="575726"/>
            <a:chExt cx="11174467" cy="320567"/>
          </a:xfrm>
        </p:grpSpPr>
        <p:sp>
          <p:nvSpPr>
            <p:cNvPr id="90" name="文字方塊 89"/>
            <p:cNvSpPr txBox="1"/>
            <p:nvPr/>
          </p:nvSpPr>
          <p:spPr>
            <a:xfrm>
              <a:off x="473844" y="575726"/>
              <a:ext cx="11174467" cy="3077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zh-TW" altLang="en-US" sz="1400" dirty="0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421486" y="619294"/>
              <a:ext cx="1059195" cy="276999"/>
              <a:chOff x="5412678" y="607501"/>
              <a:chExt cx="1059195" cy="276999"/>
            </a:xfrm>
          </p:grpSpPr>
          <p:pic>
            <p:nvPicPr>
              <p:cNvPr id="104" name="圖片 10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2678" y="633152"/>
                <a:ext cx="255643" cy="228113"/>
              </a:xfrm>
              <a:prstGeom prst="rect">
                <a:avLst/>
              </a:prstGeom>
            </p:spPr>
          </p:pic>
          <p:sp>
            <p:nvSpPr>
              <p:cNvPr id="105" name="矩形 104"/>
              <p:cNvSpPr/>
              <p:nvPr/>
            </p:nvSpPr>
            <p:spPr>
              <a:xfrm>
                <a:off x="5671654" y="607501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zh-TW" altLang="en-US" sz="1200" dirty="0">
                    <a:solidFill>
                      <a:schemeClr val="tx1"/>
                    </a:solidFill>
                  </a:rPr>
                  <a:t>內容架構</a:t>
                </a:r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8271413" y="589331"/>
              <a:ext cx="1024987" cy="283128"/>
              <a:chOff x="8045710" y="152643"/>
              <a:chExt cx="1024987" cy="283128"/>
            </a:xfrm>
          </p:grpSpPr>
          <p:pic>
            <p:nvPicPr>
              <p:cNvPr id="102" name="圖片 10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5710" y="181095"/>
                <a:ext cx="246959" cy="254676"/>
              </a:xfrm>
              <a:prstGeom prst="rect">
                <a:avLst/>
              </a:prstGeom>
            </p:spPr>
          </p:pic>
          <p:sp>
            <p:nvSpPr>
              <p:cNvPr id="103" name="矩形 102"/>
              <p:cNvSpPr/>
              <p:nvPr/>
            </p:nvSpPr>
            <p:spPr>
              <a:xfrm>
                <a:off x="8270478" y="152643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情境指涉</a:t>
                </a:r>
              </a:p>
            </p:txBody>
          </p:sp>
        </p:grpSp>
        <p:grpSp>
          <p:nvGrpSpPr>
            <p:cNvPr id="93" name="群組 92"/>
            <p:cNvGrpSpPr/>
            <p:nvPr/>
          </p:nvGrpSpPr>
          <p:grpSpPr>
            <a:xfrm>
              <a:off x="9540449" y="595460"/>
              <a:ext cx="994865" cy="277598"/>
              <a:chOff x="9620506" y="139496"/>
              <a:chExt cx="994865" cy="277598"/>
            </a:xfrm>
          </p:grpSpPr>
          <p:pic>
            <p:nvPicPr>
              <p:cNvPr id="100" name="圖片 9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0506" y="161819"/>
                <a:ext cx="242388" cy="255275"/>
              </a:xfrm>
              <a:prstGeom prst="rect">
                <a:avLst/>
              </a:prstGeom>
            </p:spPr>
          </p:pic>
          <p:sp>
            <p:nvSpPr>
              <p:cNvPr id="101" name="矩形 100"/>
              <p:cNvSpPr/>
              <p:nvPr/>
            </p:nvSpPr>
            <p:spPr>
              <a:xfrm>
                <a:off x="9815152" y="139496"/>
                <a:ext cx="800219" cy="276999"/>
              </a:xfrm>
              <a:prstGeom prst="rect">
                <a:avLst/>
              </a:prstGeom>
              <a:solidFill>
                <a:srgbClr val="92D050"/>
              </a:solidFill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文義思考</a:t>
                </a:r>
                <a:endParaRPr lang="en-US" altLang="zh-TW" sz="1200" dirty="0"/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066843" y="596059"/>
              <a:ext cx="1049036" cy="276999"/>
              <a:chOff x="5838051" y="606036"/>
              <a:chExt cx="1049036" cy="276999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6051602" y="606036"/>
                <a:ext cx="835485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互為文本 </a:t>
                </a:r>
              </a:p>
            </p:txBody>
          </p:sp>
          <p:pic>
            <p:nvPicPr>
              <p:cNvPr id="99" name="圖片 9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8051" y="626004"/>
                <a:ext cx="220577" cy="241923"/>
              </a:xfrm>
              <a:prstGeom prst="rect">
                <a:avLst/>
              </a:prstGeom>
            </p:spPr>
          </p:pic>
        </p:grpSp>
        <p:grpSp>
          <p:nvGrpSpPr>
            <p:cNvPr id="95" name="群組 94"/>
            <p:cNvGrpSpPr/>
            <p:nvPr/>
          </p:nvGrpSpPr>
          <p:grpSpPr>
            <a:xfrm>
              <a:off x="5803737" y="606621"/>
              <a:ext cx="1006733" cy="276999"/>
              <a:chOff x="7033547" y="595460"/>
              <a:chExt cx="1006733" cy="276999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240061" y="595460"/>
                <a:ext cx="800219" cy="27699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  <a:effectLst>
                <a:softEdge rad="63500"/>
              </a:effectLst>
            </p:spPr>
            <p:txBody>
              <a:bodyPr wrap="none">
                <a:spAutoFit/>
              </a:bodyPr>
              <a:lstStyle/>
              <a:p>
                <a:r>
                  <a:rPr lang="zh-TW" altLang="en-US" sz="1200" dirty="0"/>
                  <a:t>字詞釋義</a:t>
                </a:r>
              </a:p>
            </p:txBody>
          </p:sp>
          <p:pic>
            <p:nvPicPr>
              <p:cNvPr id="97" name="圖片 9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33547" y="611292"/>
                <a:ext cx="220585" cy="243877"/>
              </a:xfrm>
              <a:prstGeom prst="rect">
                <a:avLst/>
              </a:prstGeom>
            </p:spPr>
          </p:pic>
        </p:grpSp>
      </p:grp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41211"/>
              </p:ext>
            </p:extLst>
          </p:nvPr>
        </p:nvGraphicFramePr>
        <p:xfrm>
          <a:off x="5480681" y="1193945"/>
          <a:ext cx="6247030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641"/>
                <a:gridCol w="286389"/>
              </a:tblGrid>
              <a:tr h="2964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……….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「唯然。世尊！願樂欲聞。」佛告須菩提：「諸菩薩摩訶薩應如是降伏其心：</a:t>
                      </a:r>
                      <a:r>
                        <a:rPr lang="zh-TW" altLang="zh-TW" sz="16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『所有一切眾生之類，若卵生、若胎生、若濕生、若化生，若有色、若無色，若有想、若無想、若非有想非無想，我皆令入無餘涅槃而滅度之。』如是滅度無量無數無邊眾生，實無眾生得滅度者。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何以故？須菩提！若菩薩有我相、人相、眾生相、壽者相，即非菩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薩。</a:t>
                      </a:r>
                      <a:endParaRPr lang="en-US" altLang="zh-TW" sz="1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6" name="圖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0153" y="1545765"/>
            <a:ext cx="236641" cy="224809"/>
          </a:xfrm>
          <a:prstGeom prst="rect">
            <a:avLst/>
          </a:prstGeom>
        </p:spPr>
      </p:pic>
      <p:pic>
        <p:nvPicPr>
          <p:cNvPr id="58" name="圖片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87041" y="3364182"/>
            <a:ext cx="236641" cy="224809"/>
          </a:xfrm>
          <a:prstGeom prst="rect">
            <a:avLst/>
          </a:prstGeom>
        </p:spPr>
      </p:pic>
      <p:pic>
        <p:nvPicPr>
          <p:cNvPr id="66" name="圖片 6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27371" y="1234119"/>
            <a:ext cx="161103" cy="176446"/>
          </a:xfrm>
          <a:prstGeom prst="rect">
            <a:avLst/>
          </a:prstGeom>
        </p:spPr>
      </p:pic>
      <p:sp>
        <p:nvSpPr>
          <p:cNvPr id="67" name="動作按鈕: 下一項 66">
            <a:hlinkClick r:id="" action="ppaction://hlinkshowjump?jump=nextslide" highlightClick="1"/>
          </p:cNvPr>
          <p:cNvSpPr/>
          <p:nvPr/>
        </p:nvSpPr>
        <p:spPr>
          <a:xfrm>
            <a:off x="11138179" y="1243627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動作按鈕: 上一項 67">
            <a:hlinkClick r:id="" action="ppaction://hlinkshowjump?jump=previousslide" highlightClick="1"/>
          </p:cNvPr>
          <p:cNvSpPr/>
          <p:nvPr/>
        </p:nvSpPr>
        <p:spPr>
          <a:xfrm>
            <a:off x="10954226" y="1243627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圓角矩形圖說文字 59"/>
          <p:cNvSpPr/>
          <p:nvPr/>
        </p:nvSpPr>
        <p:spPr>
          <a:xfrm>
            <a:off x="3870221" y="3364182"/>
            <a:ext cx="355465" cy="2188022"/>
          </a:xfrm>
          <a:prstGeom prst="wedgeRoundRectCallout">
            <a:avLst>
              <a:gd name="adj1" fmla="val 46223"/>
              <a:gd name="adj2" fmla="val -2492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</a:rPr>
              <a:t>出現對應經文或解釋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222" y="1837117"/>
            <a:ext cx="4102907" cy="3923843"/>
          </a:xfrm>
          <a:prstGeom prst="rect">
            <a:avLst/>
          </a:prstGeom>
        </p:spPr>
      </p:pic>
      <p:sp>
        <p:nvSpPr>
          <p:cNvPr id="61" name="矩形 60"/>
          <p:cNvSpPr/>
          <p:nvPr/>
        </p:nvSpPr>
        <p:spPr>
          <a:xfrm>
            <a:off x="939385" y="5358810"/>
            <a:ext cx="3737743" cy="209592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5013740" y="2271876"/>
            <a:ext cx="311874" cy="227561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圓角矩形圖說文字 72"/>
          <p:cNvSpPr/>
          <p:nvPr/>
        </p:nvSpPr>
        <p:spPr>
          <a:xfrm>
            <a:off x="4968861" y="2911313"/>
            <a:ext cx="355465" cy="2188022"/>
          </a:xfrm>
          <a:prstGeom prst="wedgeRoundRectCallout">
            <a:avLst>
              <a:gd name="adj1" fmla="val 46223"/>
              <a:gd name="adj2" fmla="val -24923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dirty="0" smtClean="0">
                <a:solidFill>
                  <a:srgbClr val="C00000"/>
                </a:solidFill>
              </a:rPr>
              <a:t>出現對應經文或解釋</a:t>
            </a:r>
            <a:endParaRPr lang="zh-TW" altLang="en-US" sz="1400" dirty="0">
              <a:solidFill>
                <a:srgbClr val="C00000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20753" y="1785279"/>
            <a:ext cx="581324" cy="210104"/>
          </a:xfrm>
          <a:prstGeom prst="rect">
            <a:avLst/>
          </a:prstGeom>
          <a:solidFill>
            <a:srgbClr val="FFFF0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單箭頭接點 5"/>
          <p:cNvCxnSpPr/>
          <p:nvPr/>
        </p:nvCxnSpPr>
        <p:spPr>
          <a:xfrm flipV="1">
            <a:off x="4677128" y="5083859"/>
            <a:ext cx="803553" cy="347016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表格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876002"/>
              </p:ext>
            </p:extLst>
          </p:nvPr>
        </p:nvGraphicFramePr>
        <p:xfrm>
          <a:off x="5476652" y="3880340"/>
          <a:ext cx="6247030" cy="2453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0641"/>
                <a:gridCol w="286389"/>
              </a:tblGrid>
              <a:tr h="296486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金剛般若波羅蜜經（姚秦</a:t>
                      </a:r>
                      <a:r>
                        <a:rPr lang="en-US" altLang="zh-TW" sz="1200" b="0" dirty="0" smtClean="0">
                          <a:solidFill>
                            <a:schemeClr val="tx1"/>
                          </a:solidFill>
                        </a:rPr>
                        <a:t>‧</a:t>
                      </a:r>
                      <a:r>
                        <a:rPr lang="zh-TW" altLang="en-US" sz="1200" b="0" dirty="0" smtClean="0">
                          <a:solidFill>
                            <a:schemeClr val="tx1"/>
                          </a:solidFill>
                        </a:rPr>
                        <a:t>鳩摩羅什譯）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15653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如是我聞。一時，</a:t>
                      </a:r>
                      <a:r>
                        <a:rPr lang="en-US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……….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「唯然。世尊！願樂欲聞。」佛告須菩提：「諸菩薩摩訶薩應如是降伏其心：</a:t>
                      </a:r>
                      <a:r>
                        <a:rPr lang="zh-TW" altLang="zh-TW" sz="1600" dirty="0" smtClean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『所有一切眾生之類，若卵生、若胎生、若濕生、若化生，若有色、若無色，若有想、若無想、若非有想非無想，我皆令入無餘涅槃而滅度之。』</a:t>
                      </a:r>
                      <a:r>
                        <a:rPr lang="zh-TW" altLang="zh-TW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如是滅度無量無數無邊眾生，實無眾生得滅度者。何以故？須菩提！若菩薩有我相、人相、眾生相、壽者相，即非菩</a:t>
                      </a:r>
                      <a:r>
                        <a:rPr lang="zh-TW" alt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薩。</a:t>
                      </a:r>
                      <a:endParaRPr lang="en-US" altLang="zh-TW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2" name="圖片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124" y="4232160"/>
            <a:ext cx="236641" cy="224809"/>
          </a:xfrm>
          <a:prstGeom prst="rect">
            <a:avLst/>
          </a:prstGeom>
        </p:spPr>
      </p:pic>
      <p:pic>
        <p:nvPicPr>
          <p:cNvPr id="74" name="圖片 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483012" y="6050577"/>
            <a:ext cx="236641" cy="224809"/>
          </a:xfrm>
          <a:prstGeom prst="rect">
            <a:avLst/>
          </a:prstGeom>
        </p:spPr>
      </p:pic>
      <p:pic>
        <p:nvPicPr>
          <p:cNvPr id="75" name="圖片 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23342" y="3920514"/>
            <a:ext cx="161103" cy="176446"/>
          </a:xfrm>
          <a:prstGeom prst="rect">
            <a:avLst/>
          </a:prstGeom>
        </p:spPr>
      </p:pic>
      <p:sp>
        <p:nvSpPr>
          <p:cNvPr id="76" name="動作按鈕: 下一項 75">
            <a:hlinkClick r:id="" action="ppaction://hlinkshowjump?jump=nextslide" highlightClick="1"/>
          </p:cNvPr>
          <p:cNvSpPr/>
          <p:nvPr/>
        </p:nvSpPr>
        <p:spPr>
          <a:xfrm>
            <a:off x="11134150" y="3930022"/>
            <a:ext cx="143838" cy="176446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動作按鈕: 上一項 76">
            <a:hlinkClick r:id="" action="ppaction://hlinkshowjump?jump=previousslide" highlightClick="1"/>
          </p:cNvPr>
          <p:cNvSpPr/>
          <p:nvPr/>
        </p:nvSpPr>
        <p:spPr>
          <a:xfrm>
            <a:off x="10950197" y="3930022"/>
            <a:ext cx="141198" cy="176446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1202077" y="1837117"/>
            <a:ext cx="4278604" cy="279359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-1" y="0"/>
            <a:ext cx="1026789" cy="307777"/>
          </a:xfrm>
          <a:prstGeom prst="rect">
            <a:avLst/>
          </a:prstGeom>
          <a:solidFill>
            <a:srgbClr val="FFCCFF"/>
          </a:solidFill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文義思考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277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5612</TotalTime>
  <Words>16634</Words>
  <Application>Microsoft Office PowerPoint</Application>
  <PresentationFormat>寬螢幕</PresentationFormat>
  <Paragraphs>1320</Paragraphs>
  <Slides>47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47</vt:i4>
      </vt:variant>
    </vt:vector>
  </HeadingPairs>
  <TitlesOfParts>
    <vt:vector size="55" baseType="lpstr">
      <vt:lpstr>超世紀細行書</vt:lpstr>
      <vt:lpstr>微軟正黑體</vt:lpstr>
      <vt:lpstr>新細明體</vt:lpstr>
      <vt:lpstr>Arial</vt:lpstr>
      <vt:lpstr>Calibri</vt:lpstr>
      <vt:lpstr>Calibri Light</vt:lpstr>
      <vt:lpstr>Times New Roman</vt:lpstr>
      <vt:lpstr>Office 佈景主題</vt:lpstr>
      <vt:lpstr>智慧光小幫手 介面佈局及功能實例圖</vt:lpstr>
      <vt:lpstr>PowerPoint 簡報</vt:lpstr>
      <vt:lpstr>頁面佈局 layout</vt:lpstr>
      <vt:lpstr>PowerPoint 簡報</vt:lpstr>
      <vt:lpstr>PowerPoint 簡報</vt:lpstr>
      <vt:lpstr>PowerPoint 簡報</vt:lpstr>
      <vt:lpstr>功能說明</vt:lpstr>
      <vt:lpstr>PowerPoint 簡報</vt:lpstr>
      <vt:lpstr>一、內容架構類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二、字詞釋義類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三、互為文本（１）譯本比對</vt:lpstr>
      <vt:lpstr>PowerPoint 簡報</vt:lpstr>
      <vt:lpstr>PowerPoint 簡報</vt:lpstr>
      <vt:lpstr>PowerPoint 簡報</vt:lpstr>
      <vt:lpstr>三、互為文本（２）內文引證</vt:lpstr>
      <vt:lpstr>PowerPoint 簡報</vt:lpstr>
      <vt:lpstr>PowerPoint 簡報</vt:lpstr>
      <vt:lpstr>PowerPoint 簡報</vt:lpstr>
      <vt:lpstr>三、互為文本（３）參校資料</vt:lpstr>
      <vt:lpstr>PowerPoint 簡報</vt:lpstr>
      <vt:lpstr>四、情境指涉（１）文本內</vt:lpstr>
      <vt:lpstr>PowerPoint 簡報</vt:lpstr>
      <vt:lpstr>PowerPoint 簡報</vt:lpstr>
      <vt:lpstr>PowerPoint 簡報</vt:lpstr>
      <vt:lpstr>PowerPoint 簡報</vt:lpstr>
      <vt:lpstr>四、情境指涉（２）跨文本</vt:lpstr>
      <vt:lpstr>PowerPoint 簡報</vt:lpstr>
      <vt:lpstr>PowerPoint 簡報</vt:lpstr>
      <vt:lpstr>PowerPoint 簡報</vt:lpstr>
      <vt:lpstr>五、文義思考類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huiping</dc:creator>
  <cp:lastModifiedBy>huiping</cp:lastModifiedBy>
  <cp:revision>254</cp:revision>
  <dcterms:created xsi:type="dcterms:W3CDTF">2015-07-05T06:41:13Z</dcterms:created>
  <dcterms:modified xsi:type="dcterms:W3CDTF">2015-07-25T00:37:33Z</dcterms:modified>
</cp:coreProperties>
</file>